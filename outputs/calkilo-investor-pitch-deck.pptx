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a1c04f3f3744a0" /><Relationship Type="http://schemas.openxmlformats.org/officeDocument/2006/relationships/extended-properties" Target="/docProps/app.xml" Id="R4fd70c52e1ce4610" /><Relationship Type="http://schemas.openxmlformats.org/officeDocument/2006/relationships/officeDocument" Target="/ppt/presentation.xml" Id="Rb508d4fc7ef94517" /></Relationships>
</file>

<file path=ppt/presentation.xml><?xml version="1.0" encoding="utf-8"?>
<p:presentation xmlns:p="http://schemas.openxmlformats.org/presentationml/2006/main">
  <p:sldMasterIdLst>
    <p:sldMasterId xmlns:r="http://schemas.openxmlformats.org/officeDocument/2006/relationships" id="2147483648" r:id="R6e9c4477fb0e408d"/>
  </p:sldMasterIdLst>
  <p:notesMasterIdLst>
    <p:notesMasterId xmlns:r="http://schemas.openxmlformats.org/officeDocument/2006/relationships" r:id="Rc3800c60a28d41b2"/>
  </p:notesMasterIdLst>
  <p:sldIdLst>
    <p:sldId xmlns:r="http://schemas.openxmlformats.org/officeDocument/2006/relationships" id="256" r:id="Rca3a0c31aec74c46"/>
    <p:sldId xmlns:r="http://schemas.openxmlformats.org/officeDocument/2006/relationships" id="257" r:id="Rc427bd26dde64d3c"/>
    <p:sldId xmlns:r="http://schemas.openxmlformats.org/officeDocument/2006/relationships" id="258" r:id="R2e49398ef2bd42d3"/>
    <p:sldId xmlns:r="http://schemas.openxmlformats.org/officeDocument/2006/relationships" id="259" r:id="Rf456fcf797c1455b"/>
    <p:sldId xmlns:r="http://schemas.openxmlformats.org/officeDocument/2006/relationships" id="260" r:id="R8103440ad89a45a0"/>
    <p:sldId xmlns:r="http://schemas.openxmlformats.org/officeDocument/2006/relationships" id="261" r:id="R8ded1b8808734ad7"/>
    <p:sldId xmlns:r="http://schemas.openxmlformats.org/officeDocument/2006/relationships" id="262" r:id="R8e617cf4aa244c0a"/>
    <p:sldId xmlns:r="http://schemas.openxmlformats.org/officeDocument/2006/relationships" id="263" r:id="Rdecf1b7625d742ec"/>
    <p:sldId xmlns:r="http://schemas.openxmlformats.org/officeDocument/2006/relationships" id="264" r:id="R175ff566964d4199"/>
    <p:sldId xmlns:r="http://schemas.openxmlformats.org/officeDocument/2006/relationships" id="265" r:id="R8ef15ddc78b94cb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e42156e1a645b8" /><Relationship Type="http://schemas.openxmlformats.org/officeDocument/2006/relationships/slideMaster" Target="/ppt/slideMasters/slideMaster1.xml" Id="R6e9c4477fb0e408d" /><Relationship Type="http://schemas.openxmlformats.org/officeDocument/2006/relationships/notesMaster" Target="/ppt/notesMasters/notesMaster1.xml" Id="Rc3800c60a28d41b2" /><Relationship Type="http://schemas.openxmlformats.org/officeDocument/2006/relationships/presProps" Target="/ppt/presProps.xml" Id="R20c9984653ad4fd2" /><Relationship Type="http://schemas.openxmlformats.org/officeDocument/2006/relationships/tableStyles" Target="/ppt/tableStyles.xml" Id="Re7007023e3114d5a" /><Relationship Type="http://schemas.openxmlformats.org/officeDocument/2006/relationships/slide" Target="/ppt/slides/slide1.xml" Id="Rca3a0c31aec74c46" /><Relationship Type="http://schemas.openxmlformats.org/officeDocument/2006/relationships/slide" Target="/ppt/slides/slide2.xml" Id="Rc427bd26dde64d3c" /><Relationship Type="http://schemas.openxmlformats.org/officeDocument/2006/relationships/slide" Target="/ppt/slides/slide3.xml" Id="R2e49398ef2bd42d3" /><Relationship Type="http://schemas.openxmlformats.org/officeDocument/2006/relationships/slide" Target="/ppt/slides/slide4.xml" Id="Rf456fcf797c1455b" /><Relationship Type="http://schemas.openxmlformats.org/officeDocument/2006/relationships/slide" Target="/ppt/slides/slide5.xml" Id="R8103440ad89a45a0" /><Relationship Type="http://schemas.openxmlformats.org/officeDocument/2006/relationships/slide" Target="/ppt/slides/slide6.xml" Id="R8ded1b8808734ad7" /><Relationship Type="http://schemas.openxmlformats.org/officeDocument/2006/relationships/slide" Target="/ppt/slides/slide7.xml" Id="R8e617cf4aa244c0a" /><Relationship Type="http://schemas.openxmlformats.org/officeDocument/2006/relationships/slide" Target="/ppt/slides/slide8.xml" Id="Rdecf1b7625d742ec" /><Relationship Type="http://schemas.openxmlformats.org/officeDocument/2006/relationships/slide" Target="/ppt/slides/slide9.xml" Id="R175ff566964d4199" /><Relationship Type="http://schemas.openxmlformats.org/officeDocument/2006/relationships/slide" Target="/ppt/slides/slide10.xml" Id="R8ef15ddc78b94c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52976b9c7c4f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e245bcc12a4bbc" /><Relationship Type="http://schemas.openxmlformats.org/officeDocument/2006/relationships/notesMaster" Target="/ppt/notesMasters/notesMaster1.xml" Id="Re46f20afe3564e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6526e334af4485" /><Relationship Type="http://schemas.openxmlformats.org/officeDocument/2006/relationships/notesMaster" Target="/ppt/notesMasters/notesMaster1.xml" Id="Rcd642008289d41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b8f93ac7cb41b2" /><Relationship Type="http://schemas.openxmlformats.org/officeDocument/2006/relationships/notesMaster" Target="/ppt/notesMasters/notesMaster1.xml" Id="Rb92b0457e9d643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0fef50996646f2" /><Relationship Type="http://schemas.openxmlformats.org/officeDocument/2006/relationships/notesMaster" Target="/ppt/notesMasters/notesMaster1.xml" Id="Ra7509e96adfe42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bf7b7b0ef2477d" /><Relationship Type="http://schemas.openxmlformats.org/officeDocument/2006/relationships/notesMaster" Target="/ppt/notesMasters/notesMaster1.xml" Id="R1f733187309b4b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eaef92b7bf46f1" /><Relationship Type="http://schemas.openxmlformats.org/officeDocument/2006/relationships/notesMaster" Target="/ppt/notesMasters/notesMaster1.xml" Id="R8d61cd9949f74e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fc337025324a07" /><Relationship Type="http://schemas.openxmlformats.org/officeDocument/2006/relationships/notesMaster" Target="/ppt/notesMasters/notesMaster1.xml" Id="Rd1ecc2274db04e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1c83b31ba64fd0" /><Relationship Type="http://schemas.openxmlformats.org/officeDocument/2006/relationships/notesMaster" Target="/ppt/notesMasters/notesMaster1.xml" Id="R5a84c3602bf142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5d933e264749f4" /><Relationship Type="http://schemas.openxmlformats.org/officeDocument/2006/relationships/notesMaster" Target="/ppt/notesMasters/notesMaster1.xml" Id="R47b2d65aa5e647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0f7f86a8924757" /><Relationship Type="http://schemas.openxmlformats.org/officeDocument/2006/relationships/notesMaster" Target="/ppt/notesMasters/notesMaster1.xml" Id="Rc337c0c2892848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4123294d6649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147c2c112a4023" /><Relationship Type="http://schemas.openxmlformats.org/officeDocument/2006/relationships/slideLayout" Target="/ppt/slideLayouts/slideLayout1.xml" Id="R6cc28d4c84d549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c28d4c84d549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f1d377a83a45b1" /><Relationship Type="http://schemas.openxmlformats.org/officeDocument/2006/relationships/image" Target="/ppt/media/image.png" Id="Rb0e5091b683d45e6" /><Relationship Type="http://schemas.openxmlformats.org/officeDocument/2006/relationships/notesSlide" Target="/ppt/notesSlides/notesSlide1.xml" Id="R23dafa00f70c46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55db2d83f94ffb" /><Relationship Type="http://schemas.openxmlformats.org/officeDocument/2006/relationships/notesSlide" Target="/ppt/notesSlides/notesSlide2.xml" Id="Rb4c87d2aeb6f4d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a023529c414453" /><Relationship Type="http://schemas.openxmlformats.org/officeDocument/2006/relationships/image" Target="/ppt/media/image2.png" Id="R41362391c6f14494" /><Relationship Type="http://schemas.openxmlformats.org/officeDocument/2006/relationships/notesSlide" Target="/ppt/notesSlides/notesSlide3.xml" Id="R3c3a80c5367441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7851493813400f" /><Relationship Type="http://schemas.openxmlformats.org/officeDocument/2006/relationships/notesSlide" Target="/ppt/notesSlides/notesSlide4.xml" Id="Rce49f1a178c040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89342131ba4f17" /><Relationship Type="http://schemas.openxmlformats.org/officeDocument/2006/relationships/chart" Target="/ppt/slides/charts/chart1.xml" Id="Rbfe54b948bb94816" /><Relationship Type="http://schemas.openxmlformats.org/officeDocument/2006/relationships/notesSlide" Target="/ppt/notesSlides/notesSlide5.xml" Id="R2e2d467c3afd4f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18d828affe406b" /><Relationship Type="http://schemas.openxmlformats.org/officeDocument/2006/relationships/notesSlide" Target="/ppt/notesSlides/notesSlide6.xml" Id="Rd88c281350d141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868367739e4ac1" /><Relationship Type="http://schemas.openxmlformats.org/officeDocument/2006/relationships/notesSlide" Target="/ppt/notesSlides/notesSlide7.xml" Id="R9b22f05bcb6747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ea2d6248b9432e" /><Relationship Type="http://schemas.openxmlformats.org/officeDocument/2006/relationships/notesSlide" Target="/ppt/notesSlides/notesSlide8.xml" Id="Rb17890b7e9e848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b008ffcffa459e" /><Relationship Type="http://schemas.openxmlformats.org/officeDocument/2006/relationships/notesSlide" Target="/ppt/notesSlides/notesSlide9.xml" Id="R8c39f1152f764e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e89908550b4954" /><Relationship Type="http://schemas.openxmlformats.org/officeDocument/2006/relationships/notesSlide" Target="/ppt/notesSlides/notesSlide10.xml" Id="R094743cffd704cfd" /></Relationships>
</file>

<file path=ppt/slides/charts/chart1.xml><?xml version="1.0" encoding="utf-8"?>
<c:chartSpace xmlns:c="http://schemas.openxmlformats.org/drawingml/2006/chart">
  <c:lang val="en-US"/>
  <c:chart>
    <c:plotArea>
      <c:barChart>
        <c:barDir val="col"/>
        <c:varyColors val="0"/>
        <c:ser>
          <c:idx val="0"/>
          <c:order val="0"/>
          <c:tx>
            <c:v>Clicks</c:v>
          </c:tx>
          <c:spPr>
            <a:solidFill xmlns:a="http://schemas.openxmlformats.org/drawingml/2006/main">
              <a:srgbClr val="22A56B"/>
            </a:solidFill>
          </c:spPr>
          <c:cat>
            <c:strLit>
              <c:ptCount val="2"/>
              <c:pt idx="0">
                <c:v>First 30 days</c:v>
              </c:pt>
              <c:pt idx="1">
                <c:v>Last 30 days</c:v>
              </c:pt>
            </c:strLit>
          </c:cat>
          <c:val>
            <c:numLit>
              <c:formatCode>General</c:formatCode>
              <c:ptCount val="2"/>
              <c:pt idx="0">
                <c:v>12</c:v>
              </c:pt>
              <c:pt idx="1">
                <c:v>65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l"/>
        <c:majorGridlines>
          <c:spPr>
            <a:ln xmlns:a="http://schemas.openxmlformats.org/drawingml/2006/main" w="9525">
              <a:solidFill>
                <a:srgbClr val="DCE5E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68710B-ED3F-4A2A-BE2B-5B3B83D22B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A1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B21F3A-F5D1-4F95-8161-5B5E16E240C2}"/>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2A56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A8B20A1-2051-4BC0-A784-2FAC8F83DB47}"/>
              </a:ext>
            </a:extLst>
          </p:cNvPr>
          <p:cNvSpPr>
            <a:spLocks xmlns:a="http://schemas.openxmlformats.org/drawingml/2006/main" noGrp="1"/>
          </p:cNvSpPr>
          <p:nvPr/>
        </p:nvSpPr>
        <p:spPr>
          <a:xfrm xmlns:a="http://schemas.openxmlformats.org/drawingml/2006/main">
            <a:off x="495300" y="5143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9BE1BF"/>
                </a:solidFill>
                <a:latin typeface="Helvetica Neue"/>
                <a:ea typeface="Helvetica Neue"/>
                <a:cs typeface="Helvetica Neue"/>
              </a:defRPr>
            </a:pPr>
            <a:r>
              <a:rPr sz="1200" b="1">
                <a:solidFill>
                  <a:srgbClr val="9BE1BF"/>
                </a:solidFill>
                <a:latin typeface="Helvetica Neue"/>
                <a:ea typeface="Helvetica Neue"/>
                <a:cs typeface="Helvetica Neue"/>
              </a:rPr>
              <a:t>CALKILO</a:t>
            </a:r>
          </a:p>
        </p:txBody>
      </p:sp>
      <p:sp>
        <p:nvSpPr>
          <p:cNvPr id="4" name="">
            <a:extLst xmlns:a="http://schemas.openxmlformats.org/drawingml/2006/main">
              <a:ext uri="{FF2B5EF4-FFF2-40B4-BE49-F238E27FC236}">
                <a16:creationId xmlns:a16="http://schemas.microsoft.com/office/drawing/2014/main" id="{EE813036-BDBB-4552-AE2E-9D101942B26E}"/>
              </a:ext>
            </a:extLst>
          </p:cNvPr>
          <p:cNvSpPr>
            <a:spLocks xmlns:a="http://schemas.openxmlformats.org/drawingml/2006/main" noGrp="1"/>
          </p:cNvSpPr>
          <p:nvPr/>
        </p:nvSpPr>
        <p:spPr>
          <a:xfrm xmlns:a="http://schemas.openxmlformats.org/drawingml/2006/main">
            <a:off x="495300" y="1257300"/>
            <a:ext cx="5715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The photo-first</a:t>
            </a:r>
          </a:p>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nutrition companion</a:t>
            </a:r>
          </a:p>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for everyday eating.</a:t>
            </a:r>
          </a:p>
        </p:txBody>
      </p:sp>
      <p:sp>
        <p:nvSpPr>
          <p:cNvPr id="5" name="">
            <a:extLst xmlns:a="http://schemas.openxmlformats.org/drawingml/2006/main">
              <a:ext uri="{FF2B5EF4-FFF2-40B4-BE49-F238E27FC236}">
                <a16:creationId xmlns:a16="http://schemas.microsoft.com/office/drawing/2014/main" id="{2E3678AA-52C3-4900-B8EA-5C98C5B09578}"/>
              </a:ext>
            </a:extLst>
          </p:cNvPr>
          <p:cNvSpPr>
            <a:spLocks xmlns:a="http://schemas.openxmlformats.org/drawingml/2006/main" noGrp="1"/>
          </p:cNvSpPr>
          <p:nvPr/>
        </p:nvSpPr>
        <p:spPr>
          <a:xfrm xmlns:a="http://schemas.openxmlformats.org/drawingml/2006/main">
            <a:off x="514350" y="3943350"/>
            <a:ext cx="5143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D5E2DC"/>
                </a:solidFill>
                <a:latin typeface="Helvetica Neue"/>
                <a:ea typeface="Helvetica Neue"/>
                <a:cs typeface="Helvetica Neue"/>
              </a:defRPr>
            </a:pPr>
            <a:r>
              <a:rPr sz="1575" b="0">
                <a:solidFill>
                  <a:srgbClr val="D5E2DC"/>
                </a:solidFill>
                <a:latin typeface="Helvetica Neue"/>
                <a:ea typeface="Helvetica Neue"/>
                <a:cs typeface="Helvetica Neue"/>
              </a:rPr>
              <a:t>AI calorie estimates, macro tracking, meal planning and progress support — built for global and Persian-language nutrition workflows.</a:t>
            </a:r>
          </a:p>
        </p:txBody>
      </p:sp>
      <p:sp>
        <p:nvSpPr>
          <p:cNvPr id="6" name="">
            <a:extLst xmlns:a="http://schemas.openxmlformats.org/drawingml/2006/main">
              <a:ext uri="{FF2B5EF4-FFF2-40B4-BE49-F238E27FC236}">
                <a16:creationId xmlns:a16="http://schemas.microsoft.com/office/drawing/2014/main" id="{6B392BFE-7204-42F5-878D-409B12D64E2A}"/>
              </a:ext>
            </a:extLst>
          </p:cNvPr>
          <p:cNvSpPr>
            <a:spLocks xmlns:a="http://schemas.openxmlformats.org/drawingml/2006/main" noGrp="1"/>
          </p:cNvSpPr>
          <p:nvPr/>
        </p:nvSpPr>
        <p:spPr>
          <a:xfrm xmlns:a="http://schemas.openxmlformats.org/drawingml/2006/main">
            <a:off x="514350" y="60007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9BE1BF"/>
                </a:solidFill>
                <a:latin typeface="Helvetica Neue"/>
                <a:ea typeface="Helvetica Neue"/>
                <a:cs typeface="Helvetica Neue"/>
              </a:defRPr>
            </a:pPr>
            <a:r>
              <a:rPr sz="1200" b="0">
                <a:solidFill>
                  <a:srgbClr val="9BE1BF"/>
                </a:solidFill>
                <a:latin typeface="Helvetica Neue"/>
                <a:ea typeface="Helvetica Neue"/>
                <a:cs typeface="Helvetica Neue"/>
              </a:rPr>
              <a:t>Investor pitch deck | July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0e5091b683d45e6"/>
          <a:srcRect xmlns:a="http://schemas.openxmlformats.org/drawingml/2006/main" l="21491" t="0" r="21491" b="0"/>
          <a:stretch xmlns:a="http://schemas.openxmlformats.org/drawingml/2006/main">
            <a:fillRect l="0" t="0" r="0" b="0"/>
          </a:stretch>
        </p:blipFill>
        <p:spPr>
          <a:xfrm xmlns:a="http://schemas.openxmlformats.org/drawingml/2006/main">
            <a:off x="6667500" y="685800"/>
            <a:ext cx="4953000" cy="5486400"/>
          </a:xfrm>
          <a:prstGeom xmlns:a="http://schemas.openxmlformats.org/drawingml/2006/main" prst="roundRect">
            <a:avLst>
              <a:gd name="adj" fmla="val 2308"/>
            </a:avLst>
          </a:prstGeom>
        </p:spPr>
      </p:pic>
    </p:spTree>
    <p:extLst>
      <p:ext uri="{BB962C8B-B14F-4D97-AF65-F5344CB8AC3E}">
        <p14:creationId xmlns:p14="http://schemas.microsoft.com/office/powerpoint/2010/main" val="4829316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DC10AEF-5BDB-40D3-A1BA-58412B8B6A45}"/>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2A56B"/>
                </a:solidFill>
                <a:latin typeface="Helvetica Neue"/>
                <a:ea typeface="Helvetica Neue"/>
                <a:cs typeface="Helvetica Neue"/>
              </a:defRPr>
            </a:pPr>
            <a:r>
              <a:rPr sz="900" b="1">
                <a:solidFill>
                  <a:srgbClr val="22A56B"/>
                </a:solidFill>
                <a:latin typeface="Helvetica Neue"/>
                <a:ea typeface="Helvetica Neue"/>
                <a:cs typeface="Helvetica Neue"/>
              </a:rPr>
              <a:t>CALKILO | INVESTOR DECK</a:t>
            </a:r>
          </a:p>
        </p:txBody>
      </p:sp>
      <p:sp>
        <p:nvSpPr>
          <p:cNvPr id="2" name="">
            <a:extLst xmlns:a="http://schemas.openxmlformats.org/drawingml/2006/main">
              <a:ext uri="{FF2B5EF4-FFF2-40B4-BE49-F238E27FC236}">
                <a16:creationId xmlns:a16="http://schemas.microsoft.com/office/drawing/2014/main" id="{CE478228-978D-45D0-B176-DCD96A4930FD}"/>
              </a:ext>
            </a:extLst>
          </p:cNvPr>
          <p:cNvSpPr>
            <a:spLocks xmlns:a="http://schemas.openxmlformats.org/drawingml/2006/main" noGrp="1"/>
          </p:cNvSpPr>
          <p:nvPr/>
        </p:nvSpPr>
        <p:spPr>
          <a:xfrm xmlns:a="http://schemas.openxmlformats.org/drawingml/2006/main">
            <a:off x="4000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01A18"/>
                </a:solidFill>
                <a:latin typeface="Helvetica Neue"/>
                <a:ea typeface="Helvetica Neue"/>
                <a:cs typeface="Helvetica Neue"/>
              </a:defRPr>
            </a:pPr>
            <a:r>
              <a:rPr sz="3000" b="1">
                <a:solidFill>
                  <a:srgbClr val="101A18"/>
                </a:solidFill>
                <a:latin typeface="Helvetica Neue"/>
                <a:ea typeface="Helvetica Neue"/>
                <a:cs typeface="Helvetica Neue"/>
              </a:rPr>
              <a:t>Nutrition tracking still asks people to do too much work.</a:t>
            </a:r>
          </a:p>
        </p:txBody>
      </p:sp>
      <p:sp>
        <p:nvSpPr>
          <p:cNvPr id="3" name="">
            <a:extLst xmlns:a="http://schemas.openxmlformats.org/drawingml/2006/main">
              <a:ext uri="{FF2B5EF4-FFF2-40B4-BE49-F238E27FC236}">
                <a16:creationId xmlns:a16="http://schemas.microsoft.com/office/drawing/2014/main" id="{827F0A05-D957-4971-8EBA-E981DB1EA595}"/>
              </a:ext>
            </a:extLst>
          </p:cNvPr>
          <p:cNvSpPr>
            <a:spLocks xmlns:a="http://schemas.openxmlformats.org/drawingml/2006/main" noGrp="1"/>
          </p:cNvSpPr>
          <p:nvPr/>
        </p:nvSpPr>
        <p:spPr>
          <a:xfrm xmlns:a="http://schemas.openxmlformats.org/drawingml/2006/main">
            <a:off x="11239500" y="63817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C6965"/>
                </a:solidFill>
                <a:latin typeface="Helvetica Neue"/>
                <a:ea typeface="Helvetica Neue"/>
                <a:cs typeface="Helvetica Neue"/>
              </a:defRPr>
            </a:pPr>
            <a:r>
              <a:rPr sz="900" b="0">
                <a:solidFill>
                  <a:srgbClr val="5C6965"/>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5672478D-2E3D-4C47-B44E-AE66781353CD}"/>
              </a:ext>
            </a:extLst>
          </p:cNvPr>
          <p:cNvSpPr>
            <a:spLocks xmlns:a="http://schemas.openxmlformats.org/drawingml/2006/main" noGrp="1"/>
          </p:cNvSpPr>
          <p:nvPr/>
        </p:nvSpPr>
        <p:spPr>
          <a:xfrm xmlns:a="http://schemas.openxmlformats.org/drawingml/2006/main">
            <a:off x="400050" y="1409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2A56B"/>
                </a:solidFill>
                <a:latin typeface="Helvetica Neue"/>
                <a:ea typeface="Helvetica Neue"/>
                <a:cs typeface="Helvetica Neue"/>
              </a:defRPr>
            </a:pPr>
            <a:r>
              <a:rPr sz="1650" b="1">
                <a:solidFill>
                  <a:srgbClr val="22A56B"/>
                </a:solidFill>
                <a:latin typeface="Helvetica Neue"/>
                <a:ea typeface="Helvetica Neue"/>
                <a:cs typeface="Helvetica Neue"/>
              </a:rPr>
              <a:t>The friction is the product opportunity.</a:t>
            </a:r>
          </a:p>
        </p:txBody>
      </p:sp>
      <p:sp>
        <p:nvSpPr>
          <p:cNvPr id="5" name="">
            <a:extLst xmlns:a="http://schemas.openxmlformats.org/drawingml/2006/main">
              <a:ext uri="{FF2B5EF4-FFF2-40B4-BE49-F238E27FC236}">
                <a16:creationId xmlns:a16="http://schemas.microsoft.com/office/drawing/2014/main" id="{BCD16295-43B0-47DA-B067-590D0776F997}"/>
              </a:ext>
            </a:extLst>
          </p:cNvPr>
          <p:cNvSpPr>
            <a:spLocks xmlns:a="http://schemas.openxmlformats.org/drawingml/2006/main" noGrp="1"/>
          </p:cNvSpPr>
          <p:nvPr/>
        </p:nvSpPr>
        <p:spPr>
          <a:xfrm xmlns:a="http://schemas.openxmlformats.org/drawingml/2006/main">
            <a:off x="400050" y="22479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A18"/>
                </a:solidFill>
                <a:latin typeface="Helvetica Neue"/>
                <a:ea typeface="Helvetica Neue"/>
                <a:cs typeface="Helvetica Neue"/>
              </a:defRPr>
            </a:pPr>
            <a:r>
              <a:rPr sz="1500" b="1">
                <a:solidFill>
                  <a:srgbClr val="101A18"/>
                </a:solidFill>
                <a:latin typeface="Helvetica Neue"/>
                <a:ea typeface="Helvetica Neue"/>
                <a:cs typeface="Helvetica Neue"/>
              </a:rPr>
              <a:t>Manual logging breaks consistency</a:t>
            </a:r>
          </a:p>
        </p:txBody>
      </p:sp>
      <p:sp>
        <p:nvSpPr>
          <p:cNvPr id="6" name="">
            <a:extLst xmlns:a="http://schemas.openxmlformats.org/drawingml/2006/main">
              <a:ext uri="{FF2B5EF4-FFF2-40B4-BE49-F238E27FC236}">
                <a16:creationId xmlns:a16="http://schemas.microsoft.com/office/drawing/2014/main" id="{D6C9E6F9-0C93-4D21-9D5B-A95444C21F33}"/>
              </a:ext>
            </a:extLst>
          </p:cNvPr>
          <p:cNvSpPr>
            <a:spLocks xmlns:a="http://schemas.openxmlformats.org/drawingml/2006/main" noGrp="1"/>
          </p:cNvSpPr>
          <p:nvPr/>
        </p:nvSpPr>
        <p:spPr>
          <a:xfrm xmlns:a="http://schemas.openxmlformats.org/drawingml/2006/main">
            <a:off x="400050" y="28003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C6965"/>
                </a:solidFill>
                <a:latin typeface="Helvetica Neue"/>
                <a:ea typeface="Helvetica Neue"/>
                <a:cs typeface="Helvetica Neue"/>
              </a:defRPr>
            </a:pPr>
            <a:r>
              <a:rPr sz="1275" b="0">
                <a:solidFill>
                  <a:srgbClr val="5C6965"/>
                </a:solidFill>
                <a:latin typeface="Helvetica Neue"/>
                <a:ea typeface="Helvetica Neue"/>
                <a:cs typeface="Helvetica Neue"/>
              </a:rPr>
              <a:t>Typing ingredients, portions and macros turns a daily habit into a chore.</a:t>
            </a:r>
          </a:p>
        </p:txBody>
      </p:sp>
      <p:sp>
        <p:nvSpPr>
          <p:cNvPr id="7" name="">
            <a:extLst xmlns:a="http://schemas.openxmlformats.org/drawingml/2006/main">
              <a:ext uri="{FF2B5EF4-FFF2-40B4-BE49-F238E27FC236}">
                <a16:creationId xmlns:a16="http://schemas.microsoft.com/office/drawing/2014/main" id="{FEBAD625-B62F-4FCF-9844-6A5FD34DA2C3}"/>
              </a:ext>
            </a:extLst>
          </p:cNvPr>
          <p:cNvSpPr>
            <a:spLocks xmlns:a="http://schemas.openxmlformats.org/drawingml/2006/main" noGrp="1"/>
          </p:cNvSpPr>
          <p:nvPr/>
        </p:nvSpPr>
        <p:spPr>
          <a:xfrm xmlns:a="http://schemas.openxmlformats.org/drawingml/2006/main">
            <a:off x="4333875" y="22479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A18"/>
                </a:solidFill>
                <a:latin typeface="Helvetica Neue"/>
                <a:ea typeface="Helvetica Neue"/>
                <a:cs typeface="Helvetica Neue"/>
              </a:defRPr>
            </a:pPr>
            <a:r>
              <a:rPr sz="1500" b="1">
                <a:solidFill>
                  <a:srgbClr val="101A18"/>
                </a:solidFill>
                <a:latin typeface="Helvetica Neue"/>
                <a:ea typeface="Helvetica Neue"/>
                <a:cs typeface="Helvetica Neue"/>
              </a:rPr>
              <a:t>Generic apps miss local context</a:t>
            </a:r>
          </a:p>
        </p:txBody>
      </p:sp>
      <p:sp>
        <p:nvSpPr>
          <p:cNvPr id="8" name="">
            <a:extLst xmlns:a="http://schemas.openxmlformats.org/drawingml/2006/main">
              <a:ext uri="{FF2B5EF4-FFF2-40B4-BE49-F238E27FC236}">
                <a16:creationId xmlns:a16="http://schemas.microsoft.com/office/drawing/2014/main" id="{8C7B15A3-FBC2-4B22-8244-883FD98CD6A4}"/>
              </a:ext>
            </a:extLst>
          </p:cNvPr>
          <p:cNvSpPr>
            <a:spLocks xmlns:a="http://schemas.openxmlformats.org/drawingml/2006/main" noGrp="1"/>
          </p:cNvSpPr>
          <p:nvPr/>
        </p:nvSpPr>
        <p:spPr>
          <a:xfrm xmlns:a="http://schemas.openxmlformats.org/drawingml/2006/main">
            <a:off x="4333875" y="28003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C6965"/>
                </a:solidFill>
                <a:latin typeface="Helvetica Neue"/>
                <a:ea typeface="Helvetica Neue"/>
                <a:cs typeface="Helvetica Neue"/>
              </a:defRPr>
            </a:pPr>
            <a:r>
              <a:rPr sz="1275" b="0">
                <a:solidFill>
                  <a:srgbClr val="5C6965"/>
                </a:solidFill>
                <a:latin typeface="Helvetica Neue"/>
                <a:ea typeface="Helvetica Neue"/>
                <a:cs typeface="Helvetica Neue"/>
              </a:rPr>
              <a:t>Food databases and interfaces often under-serve non-English and Persian-speaking users.</a:t>
            </a:r>
          </a:p>
        </p:txBody>
      </p:sp>
      <p:sp>
        <p:nvSpPr>
          <p:cNvPr id="9" name="">
            <a:extLst xmlns:a="http://schemas.openxmlformats.org/drawingml/2006/main">
              <a:ext uri="{FF2B5EF4-FFF2-40B4-BE49-F238E27FC236}">
                <a16:creationId xmlns:a16="http://schemas.microsoft.com/office/drawing/2014/main" id="{7EE28FF7-37CC-4348-BC36-13C101B58E10}"/>
              </a:ext>
            </a:extLst>
          </p:cNvPr>
          <p:cNvSpPr>
            <a:spLocks xmlns:a="http://schemas.openxmlformats.org/drawingml/2006/main" noGrp="1"/>
          </p:cNvSpPr>
          <p:nvPr/>
        </p:nvSpPr>
        <p:spPr>
          <a:xfrm xmlns:a="http://schemas.openxmlformats.org/drawingml/2006/main">
            <a:off x="8267700" y="22479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A18"/>
                </a:solidFill>
                <a:latin typeface="Helvetica Neue"/>
                <a:ea typeface="Helvetica Neue"/>
                <a:cs typeface="Helvetica Neue"/>
              </a:defRPr>
            </a:pPr>
            <a:r>
              <a:rPr sz="1500" b="1">
                <a:solidFill>
                  <a:srgbClr val="101A18"/>
                </a:solidFill>
                <a:latin typeface="Helvetica Neue"/>
                <a:ea typeface="Helvetica Neue"/>
                <a:cs typeface="Helvetica Neue"/>
              </a:rPr>
              <a:t>Insight arrives too late</a:t>
            </a:r>
          </a:p>
        </p:txBody>
      </p:sp>
      <p:sp>
        <p:nvSpPr>
          <p:cNvPr id="10" name="">
            <a:extLst xmlns:a="http://schemas.openxmlformats.org/drawingml/2006/main">
              <a:ext uri="{FF2B5EF4-FFF2-40B4-BE49-F238E27FC236}">
                <a16:creationId xmlns:a16="http://schemas.microsoft.com/office/drawing/2014/main" id="{505B6385-A880-4435-B644-E0C3CDD46128}"/>
              </a:ext>
            </a:extLst>
          </p:cNvPr>
          <p:cNvSpPr>
            <a:spLocks xmlns:a="http://schemas.openxmlformats.org/drawingml/2006/main" noGrp="1"/>
          </p:cNvSpPr>
          <p:nvPr/>
        </p:nvSpPr>
        <p:spPr>
          <a:xfrm xmlns:a="http://schemas.openxmlformats.org/drawingml/2006/main">
            <a:off x="8267700" y="28003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C6965"/>
                </a:solidFill>
                <a:latin typeface="Helvetica Neue"/>
                <a:ea typeface="Helvetica Neue"/>
                <a:cs typeface="Helvetica Neue"/>
              </a:defRPr>
            </a:pPr>
            <a:r>
              <a:rPr sz="1275" b="0">
                <a:solidFill>
                  <a:srgbClr val="5C6965"/>
                </a:solidFill>
                <a:latin typeface="Helvetica Neue"/>
                <a:ea typeface="Helvetica Neue"/>
                <a:cs typeface="Helvetica Neue"/>
              </a:rPr>
              <a:t>Tracking alone does not help users turn food data into an actionable next meal.</a:t>
            </a:r>
          </a:p>
        </p:txBody>
      </p:sp>
      <p:sp>
        <p:nvSpPr>
          <p:cNvPr id="11" name="">
            <a:extLst xmlns:a="http://schemas.openxmlformats.org/drawingml/2006/main">
              <a:ext uri="{FF2B5EF4-FFF2-40B4-BE49-F238E27FC236}">
                <a16:creationId xmlns:a16="http://schemas.microsoft.com/office/drawing/2014/main" id="{DBD2895E-D47F-4CD0-BDEA-603AC46E81F9}"/>
              </a:ext>
            </a:extLst>
          </p:cNvPr>
          <p:cNvSpPr>
            <a:spLocks xmlns:a="http://schemas.openxmlformats.org/drawingml/2006/main" noGrp="1"/>
          </p:cNvSpPr>
          <p:nvPr/>
        </p:nvSpPr>
        <p:spPr>
          <a:xfrm xmlns:a="http://schemas.openxmlformats.org/drawingml/2006/main">
            <a:off x="400050" y="4476750"/>
            <a:ext cx="11391900" cy="1143000"/>
          </a:xfrm>
          <a:prstGeom xmlns:a="http://schemas.openxmlformats.org/drawingml/2006/main" prst="roundRect">
            <a:avLst>
              <a:gd name="adj" fmla="val 10000"/>
            </a:avLst>
          </a:prstGeom>
          <a:solidFill xmlns:a="http://schemas.openxmlformats.org/drawingml/2006/main">
            <a:srgbClr val="F1F5F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B1DF870-1B54-4AF5-9536-9360C4C508F9}"/>
              </a:ext>
            </a:extLst>
          </p:cNvPr>
          <p:cNvSpPr>
            <a:spLocks xmlns:a="http://schemas.openxmlformats.org/drawingml/2006/main" noGrp="1"/>
          </p:cNvSpPr>
          <p:nvPr/>
        </p:nvSpPr>
        <p:spPr>
          <a:xfrm xmlns:a="http://schemas.openxmlformats.org/drawingml/2006/main">
            <a:off x="666750" y="48291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01A18"/>
                </a:solidFill>
                <a:latin typeface="Helvetica Neue"/>
                <a:ea typeface="Helvetica Neue"/>
                <a:cs typeface="Helvetica Neue"/>
              </a:defRPr>
            </a:pPr>
            <a:r>
              <a:rPr sz="2025" b="1">
                <a:solidFill>
                  <a:srgbClr val="101A18"/>
                </a:solidFill>
                <a:latin typeface="Helvetica Neue"/>
                <a:ea typeface="Helvetica Neue"/>
                <a:cs typeface="Helvetica Neue"/>
              </a:rPr>
              <a:t>Calkilo compresses the workflow: photo → estimate → nutrition record → personalized guidance.</a:t>
            </a:r>
          </a:p>
        </p:txBody>
      </p:sp>
      <p:sp>
        <p:nvSpPr>
          <p:cNvPr id="13" name="">
            <a:extLst xmlns:a="http://schemas.openxmlformats.org/drawingml/2006/main">
              <a:ext uri="{FF2B5EF4-FFF2-40B4-BE49-F238E27FC236}">
                <a16:creationId xmlns:a16="http://schemas.microsoft.com/office/drawing/2014/main" id="{37541980-BEA4-45E2-9CC1-320D320519AD}"/>
              </a:ext>
            </a:extLst>
          </p:cNvPr>
          <p:cNvSpPr>
            <a:spLocks xmlns:a="http://schemas.openxmlformats.org/drawingml/2006/main" noGrp="1"/>
          </p:cNvSpPr>
          <p:nvPr/>
        </p:nvSpPr>
        <p:spPr>
          <a:xfrm xmlns:a="http://schemas.openxmlformats.org/drawingml/2006/main">
            <a:off x="400050" y="6429375"/>
            <a:ext cx="885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C6965"/>
                </a:solidFill>
                <a:latin typeface="Helvetica Neue"/>
                <a:ea typeface="Helvetica Neue"/>
                <a:cs typeface="Helvetica Neue"/>
              </a:defRPr>
            </a:pPr>
            <a:r>
              <a:rPr sz="750" b="0">
                <a:solidFill>
                  <a:srgbClr val="5C6965"/>
                </a:solidFill>
                <a:latin typeface="Helvetica Neue"/>
                <a:ea typeface="Helvetica Neue"/>
                <a:cs typeface="Helvetica Neue"/>
              </a:rPr>
              <a:t>Product framing drawn from Calkilo landing pages and llms.txt.</a:t>
            </a:r>
          </a:p>
        </p:txBody>
      </p:sp>
    </p:spTree>
    <p:extLst>
      <p:ext uri="{BB962C8B-B14F-4D97-AF65-F5344CB8AC3E}">
        <p14:creationId xmlns:p14="http://schemas.microsoft.com/office/powerpoint/2010/main" val="183654436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5EEF247-B465-4608-B798-6EB4D63410EB}"/>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2A56B"/>
                </a:solidFill>
                <a:latin typeface="Helvetica Neue"/>
                <a:ea typeface="Helvetica Neue"/>
                <a:cs typeface="Helvetica Neue"/>
              </a:defRPr>
            </a:pPr>
            <a:r>
              <a:rPr sz="900" b="1">
                <a:solidFill>
                  <a:srgbClr val="22A56B"/>
                </a:solidFill>
                <a:latin typeface="Helvetica Neue"/>
                <a:ea typeface="Helvetica Neue"/>
                <a:cs typeface="Helvetica Neue"/>
              </a:rPr>
              <a:t>CALKILO | INVESTOR DECK</a:t>
            </a:r>
          </a:p>
        </p:txBody>
      </p:sp>
      <p:sp>
        <p:nvSpPr>
          <p:cNvPr id="2" name="">
            <a:extLst xmlns:a="http://schemas.openxmlformats.org/drawingml/2006/main">
              <a:ext uri="{FF2B5EF4-FFF2-40B4-BE49-F238E27FC236}">
                <a16:creationId xmlns:a16="http://schemas.microsoft.com/office/drawing/2014/main" id="{7CCD8FFE-67C3-4981-BC02-3C7B364F2588}"/>
              </a:ext>
            </a:extLst>
          </p:cNvPr>
          <p:cNvSpPr>
            <a:spLocks xmlns:a="http://schemas.openxmlformats.org/drawingml/2006/main" noGrp="1"/>
          </p:cNvSpPr>
          <p:nvPr/>
        </p:nvSpPr>
        <p:spPr>
          <a:xfrm xmlns:a="http://schemas.openxmlformats.org/drawingml/2006/main">
            <a:off x="4000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01A18"/>
                </a:solidFill>
                <a:latin typeface="Helvetica Neue"/>
                <a:ea typeface="Helvetica Neue"/>
                <a:cs typeface="Helvetica Neue"/>
              </a:defRPr>
            </a:pPr>
            <a:r>
              <a:rPr sz="3000" b="1">
                <a:solidFill>
                  <a:srgbClr val="101A18"/>
                </a:solidFill>
                <a:latin typeface="Helvetica Neue"/>
                <a:ea typeface="Helvetica Neue"/>
                <a:cs typeface="Helvetica Neue"/>
              </a:rPr>
              <a:t>A single loop turns a food photo into a daily nutrition habit.</a:t>
            </a:r>
          </a:p>
        </p:txBody>
      </p:sp>
      <p:sp>
        <p:nvSpPr>
          <p:cNvPr id="3" name="">
            <a:extLst xmlns:a="http://schemas.openxmlformats.org/drawingml/2006/main">
              <a:ext uri="{FF2B5EF4-FFF2-40B4-BE49-F238E27FC236}">
                <a16:creationId xmlns:a16="http://schemas.microsoft.com/office/drawing/2014/main" id="{CF20486E-D7A6-4B20-AA05-C08B684E6A3B}"/>
              </a:ext>
            </a:extLst>
          </p:cNvPr>
          <p:cNvSpPr>
            <a:spLocks xmlns:a="http://schemas.openxmlformats.org/drawingml/2006/main" noGrp="1"/>
          </p:cNvSpPr>
          <p:nvPr/>
        </p:nvSpPr>
        <p:spPr>
          <a:xfrm xmlns:a="http://schemas.openxmlformats.org/drawingml/2006/main">
            <a:off x="11239500" y="63817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C6965"/>
                </a:solidFill>
                <a:latin typeface="Helvetica Neue"/>
                <a:ea typeface="Helvetica Neue"/>
                <a:cs typeface="Helvetica Neue"/>
              </a:defRPr>
            </a:pPr>
            <a:r>
              <a:rPr sz="900" b="0">
                <a:solidFill>
                  <a:srgbClr val="5C6965"/>
                </a:solidFill>
                <a:latin typeface="Helvetica Neue"/>
                <a:ea typeface="Helvetica Neue"/>
                <a:cs typeface="Helvetica Neue"/>
              </a:rPr>
              <a:t>03</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1362391c6f14494"/>
          <a:stretch xmlns:a="http://schemas.openxmlformats.org/drawingml/2006/main"/>
        </p:blipFill>
        <p:spPr>
          <a:xfrm xmlns:a="http://schemas.openxmlformats.org/drawingml/2006/main">
            <a:off x="685800" y="1763199"/>
            <a:ext cx="2571750" cy="371260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EB49D36-A5A9-4275-A5D2-AA105EFCE81E}"/>
              </a:ext>
            </a:extLst>
          </p:cNvPr>
          <p:cNvSpPr>
            <a:spLocks xmlns:a="http://schemas.openxmlformats.org/drawingml/2006/main" noGrp="1"/>
          </p:cNvSpPr>
          <p:nvPr/>
        </p:nvSpPr>
        <p:spPr>
          <a:xfrm xmlns:a="http://schemas.openxmlformats.org/drawingml/2006/main">
            <a:off x="4000500" y="19526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2A56B"/>
                </a:solidFill>
                <a:latin typeface="Helvetica Neue"/>
                <a:ea typeface="Helvetica Neue"/>
                <a:cs typeface="Helvetica Neue"/>
              </a:defRPr>
            </a:pPr>
            <a:r>
              <a:rPr sz="1125" b="1">
                <a:solidFill>
                  <a:srgbClr val="22A56B"/>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B072BE90-B14D-4D3F-920A-B6B605E0D6EB}"/>
              </a:ext>
            </a:extLst>
          </p:cNvPr>
          <p:cNvSpPr>
            <a:spLocks xmlns:a="http://schemas.openxmlformats.org/drawingml/2006/main" noGrp="1"/>
          </p:cNvSpPr>
          <p:nvPr/>
        </p:nvSpPr>
        <p:spPr>
          <a:xfrm xmlns:a="http://schemas.openxmlformats.org/drawingml/2006/main">
            <a:off x="4000500" y="236220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A18"/>
                </a:solidFill>
                <a:latin typeface="Helvetica Neue"/>
                <a:ea typeface="Helvetica Neue"/>
                <a:cs typeface="Helvetica Neue"/>
              </a:defRPr>
            </a:pPr>
            <a:r>
              <a:rPr sz="1875" b="1">
                <a:solidFill>
                  <a:srgbClr val="101A18"/>
                </a:solidFill>
                <a:latin typeface="Helvetica Neue"/>
                <a:ea typeface="Helvetica Neue"/>
                <a:cs typeface="Helvetica Neue"/>
              </a:rPr>
              <a:t>Capture</a:t>
            </a:r>
          </a:p>
        </p:txBody>
      </p:sp>
      <p:sp>
        <p:nvSpPr>
          <p:cNvPr id="7" name="">
            <a:extLst xmlns:a="http://schemas.openxmlformats.org/drawingml/2006/main">
              <a:ext uri="{FF2B5EF4-FFF2-40B4-BE49-F238E27FC236}">
                <a16:creationId xmlns:a16="http://schemas.microsoft.com/office/drawing/2014/main" id="{D313BC8F-1FEB-46D7-8625-F15CC55F8D41}"/>
              </a:ext>
            </a:extLst>
          </p:cNvPr>
          <p:cNvSpPr>
            <a:spLocks xmlns:a="http://schemas.openxmlformats.org/drawingml/2006/main" noGrp="1"/>
          </p:cNvSpPr>
          <p:nvPr/>
        </p:nvSpPr>
        <p:spPr>
          <a:xfrm xmlns:a="http://schemas.openxmlformats.org/drawingml/2006/main">
            <a:off x="4000500" y="2790825"/>
            <a:ext cx="2143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C6965"/>
                </a:solidFill>
                <a:latin typeface="Helvetica Neue"/>
                <a:ea typeface="Helvetica Neue"/>
                <a:cs typeface="Helvetica Neue"/>
              </a:defRPr>
            </a:pPr>
            <a:r>
              <a:rPr sz="1275" b="0">
                <a:solidFill>
                  <a:srgbClr val="5C6965"/>
                </a:solidFill>
                <a:latin typeface="Helvetica Neue"/>
                <a:ea typeface="Helvetica Neue"/>
                <a:cs typeface="Helvetica Neue"/>
              </a:rPr>
              <a:t>Take a photo of a meal.</a:t>
            </a:r>
          </a:p>
        </p:txBody>
      </p:sp>
      <p:sp>
        <p:nvSpPr>
          <p:cNvPr id="8" name="">
            <a:extLst xmlns:a="http://schemas.openxmlformats.org/drawingml/2006/main">
              <a:ext uri="{FF2B5EF4-FFF2-40B4-BE49-F238E27FC236}">
                <a16:creationId xmlns:a16="http://schemas.microsoft.com/office/drawing/2014/main" id="{07530364-7DA7-4A62-AF57-D5C7799AC15A}"/>
              </a:ext>
            </a:extLst>
          </p:cNvPr>
          <p:cNvSpPr>
            <a:spLocks xmlns:a="http://schemas.openxmlformats.org/drawingml/2006/main" noGrp="1"/>
          </p:cNvSpPr>
          <p:nvPr/>
        </p:nvSpPr>
        <p:spPr>
          <a:xfrm xmlns:a="http://schemas.openxmlformats.org/drawingml/2006/main">
            <a:off x="6143625" y="23812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22A56B"/>
                </a:solidFill>
                <a:latin typeface="Helvetica Neue"/>
                <a:ea typeface="Helvetica Neue"/>
                <a:cs typeface="Helvetica Neue"/>
              </a:defRPr>
            </a:pPr>
            <a:r>
              <a:rPr sz="2025" b="1">
                <a:solidFill>
                  <a:srgbClr val="22A56B"/>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B1D1B550-A90A-4356-86A9-5471D99D8A42}"/>
              </a:ext>
            </a:extLst>
          </p:cNvPr>
          <p:cNvSpPr>
            <a:spLocks xmlns:a="http://schemas.openxmlformats.org/drawingml/2006/main" noGrp="1"/>
          </p:cNvSpPr>
          <p:nvPr/>
        </p:nvSpPr>
        <p:spPr>
          <a:xfrm xmlns:a="http://schemas.openxmlformats.org/drawingml/2006/main">
            <a:off x="6524625" y="19526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2A56B"/>
                </a:solidFill>
                <a:latin typeface="Helvetica Neue"/>
                <a:ea typeface="Helvetica Neue"/>
                <a:cs typeface="Helvetica Neue"/>
              </a:defRPr>
            </a:pPr>
            <a:r>
              <a:rPr sz="1125" b="1">
                <a:solidFill>
                  <a:srgbClr val="22A56B"/>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808436E1-AC4B-4CF1-A1FB-B5577D6E5BBF}"/>
              </a:ext>
            </a:extLst>
          </p:cNvPr>
          <p:cNvSpPr>
            <a:spLocks xmlns:a="http://schemas.openxmlformats.org/drawingml/2006/main" noGrp="1"/>
          </p:cNvSpPr>
          <p:nvPr/>
        </p:nvSpPr>
        <p:spPr>
          <a:xfrm xmlns:a="http://schemas.openxmlformats.org/drawingml/2006/main">
            <a:off x="6524625" y="236220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A18"/>
                </a:solidFill>
                <a:latin typeface="Helvetica Neue"/>
                <a:ea typeface="Helvetica Neue"/>
                <a:cs typeface="Helvetica Neue"/>
              </a:defRPr>
            </a:pPr>
            <a:r>
              <a:rPr sz="1875" b="1">
                <a:solidFill>
                  <a:srgbClr val="101A18"/>
                </a:solidFill>
                <a:latin typeface="Helvetica Neue"/>
                <a:ea typeface="Helvetica Neue"/>
                <a:cs typeface="Helvetica Neue"/>
              </a:rPr>
              <a:t>Understand</a:t>
            </a:r>
          </a:p>
        </p:txBody>
      </p:sp>
      <p:sp>
        <p:nvSpPr>
          <p:cNvPr id="11" name="">
            <a:extLst xmlns:a="http://schemas.openxmlformats.org/drawingml/2006/main">
              <a:ext uri="{FF2B5EF4-FFF2-40B4-BE49-F238E27FC236}">
                <a16:creationId xmlns:a16="http://schemas.microsoft.com/office/drawing/2014/main" id="{C74FBBF8-36B4-4C5D-9F07-3290EB2DAE20}"/>
              </a:ext>
            </a:extLst>
          </p:cNvPr>
          <p:cNvSpPr>
            <a:spLocks xmlns:a="http://schemas.openxmlformats.org/drawingml/2006/main" noGrp="1"/>
          </p:cNvSpPr>
          <p:nvPr/>
        </p:nvSpPr>
        <p:spPr>
          <a:xfrm xmlns:a="http://schemas.openxmlformats.org/drawingml/2006/main">
            <a:off x="6524625" y="2790825"/>
            <a:ext cx="2143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C6965"/>
                </a:solidFill>
                <a:latin typeface="Helvetica Neue"/>
                <a:ea typeface="Helvetica Neue"/>
                <a:cs typeface="Helvetica Neue"/>
              </a:defRPr>
            </a:pPr>
            <a:r>
              <a:rPr sz="1275" b="0">
                <a:solidFill>
                  <a:srgbClr val="5C6965"/>
                </a:solidFill>
                <a:latin typeface="Helvetica Neue"/>
                <a:ea typeface="Helvetica Neue"/>
                <a:cs typeface="Helvetica Neue"/>
              </a:rPr>
              <a:t>Estimate calories, portions and macros.</a:t>
            </a:r>
          </a:p>
        </p:txBody>
      </p:sp>
      <p:sp>
        <p:nvSpPr>
          <p:cNvPr id="12" name="">
            <a:extLst xmlns:a="http://schemas.openxmlformats.org/drawingml/2006/main">
              <a:ext uri="{FF2B5EF4-FFF2-40B4-BE49-F238E27FC236}">
                <a16:creationId xmlns:a16="http://schemas.microsoft.com/office/drawing/2014/main" id="{BAB44C80-4F24-424D-888F-D78C439228F5}"/>
              </a:ext>
            </a:extLst>
          </p:cNvPr>
          <p:cNvSpPr>
            <a:spLocks xmlns:a="http://schemas.openxmlformats.org/drawingml/2006/main" noGrp="1"/>
          </p:cNvSpPr>
          <p:nvPr/>
        </p:nvSpPr>
        <p:spPr>
          <a:xfrm xmlns:a="http://schemas.openxmlformats.org/drawingml/2006/main">
            <a:off x="8667750" y="23812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22A56B"/>
                </a:solidFill>
                <a:latin typeface="Helvetica Neue"/>
                <a:ea typeface="Helvetica Neue"/>
                <a:cs typeface="Helvetica Neue"/>
              </a:defRPr>
            </a:pPr>
            <a:r>
              <a:rPr sz="2025" b="1">
                <a:solidFill>
                  <a:srgbClr val="22A56B"/>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6B4F31DD-EE2F-48A0-AA54-5516F4A0053D}"/>
              </a:ext>
            </a:extLst>
          </p:cNvPr>
          <p:cNvSpPr>
            <a:spLocks xmlns:a="http://schemas.openxmlformats.org/drawingml/2006/main" noGrp="1"/>
          </p:cNvSpPr>
          <p:nvPr/>
        </p:nvSpPr>
        <p:spPr>
          <a:xfrm xmlns:a="http://schemas.openxmlformats.org/drawingml/2006/main">
            <a:off x="9048750" y="19526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2A56B"/>
                </a:solidFill>
                <a:latin typeface="Helvetica Neue"/>
                <a:ea typeface="Helvetica Neue"/>
                <a:cs typeface="Helvetica Neue"/>
              </a:defRPr>
            </a:pPr>
            <a:r>
              <a:rPr sz="1125" b="1">
                <a:solidFill>
                  <a:srgbClr val="22A56B"/>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A48A1B8F-DABC-4CDC-B95F-B61F11A69726}"/>
              </a:ext>
            </a:extLst>
          </p:cNvPr>
          <p:cNvSpPr>
            <a:spLocks xmlns:a="http://schemas.openxmlformats.org/drawingml/2006/main" noGrp="1"/>
          </p:cNvSpPr>
          <p:nvPr/>
        </p:nvSpPr>
        <p:spPr>
          <a:xfrm xmlns:a="http://schemas.openxmlformats.org/drawingml/2006/main">
            <a:off x="9048750" y="236220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A18"/>
                </a:solidFill>
                <a:latin typeface="Helvetica Neue"/>
                <a:ea typeface="Helvetica Neue"/>
                <a:cs typeface="Helvetica Neue"/>
              </a:defRPr>
            </a:pPr>
            <a:r>
              <a:rPr sz="1875" b="1">
                <a:solidFill>
                  <a:srgbClr val="101A18"/>
                </a:solidFill>
                <a:latin typeface="Helvetica Neue"/>
                <a:ea typeface="Helvetica Neue"/>
                <a:cs typeface="Helvetica Neue"/>
              </a:rPr>
              <a:t>Act</a:t>
            </a:r>
          </a:p>
        </p:txBody>
      </p:sp>
      <p:sp>
        <p:nvSpPr>
          <p:cNvPr id="15" name="">
            <a:extLst xmlns:a="http://schemas.openxmlformats.org/drawingml/2006/main">
              <a:ext uri="{FF2B5EF4-FFF2-40B4-BE49-F238E27FC236}">
                <a16:creationId xmlns:a16="http://schemas.microsoft.com/office/drawing/2014/main" id="{FCC5A3DE-F50E-4C31-B5A5-45BE4BFC3414}"/>
              </a:ext>
            </a:extLst>
          </p:cNvPr>
          <p:cNvSpPr>
            <a:spLocks xmlns:a="http://schemas.openxmlformats.org/drawingml/2006/main" noGrp="1"/>
          </p:cNvSpPr>
          <p:nvPr/>
        </p:nvSpPr>
        <p:spPr>
          <a:xfrm xmlns:a="http://schemas.openxmlformats.org/drawingml/2006/main">
            <a:off x="9048750" y="2790825"/>
            <a:ext cx="2143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C6965"/>
                </a:solidFill>
                <a:latin typeface="Helvetica Neue"/>
                <a:ea typeface="Helvetica Neue"/>
                <a:cs typeface="Helvetica Neue"/>
              </a:defRPr>
            </a:pPr>
            <a:r>
              <a:rPr sz="1275" b="0">
                <a:solidFill>
                  <a:srgbClr val="5C6965"/>
                </a:solidFill>
                <a:latin typeface="Helvetica Neue"/>
                <a:ea typeface="Helvetica Neue"/>
                <a:cs typeface="Helvetica Neue"/>
              </a:rPr>
              <a:t>Log meals, track goals and receive AI-supported guidance.</a:t>
            </a:r>
          </a:p>
        </p:txBody>
      </p:sp>
      <p:sp>
        <p:nvSpPr>
          <p:cNvPr id="16" name="">
            <a:extLst xmlns:a="http://schemas.openxmlformats.org/drawingml/2006/main">
              <a:ext uri="{FF2B5EF4-FFF2-40B4-BE49-F238E27FC236}">
                <a16:creationId xmlns:a16="http://schemas.microsoft.com/office/drawing/2014/main" id="{34ADFE27-19BD-4178-971C-A8EEDFDAF5B9}"/>
              </a:ext>
            </a:extLst>
          </p:cNvPr>
          <p:cNvSpPr>
            <a:spLocks xmlns:a="http://schemas.openxmlformats.org/drawingml/2006/main" noGrp="1"/>
          </p:cNvSpPr>
          <p:nvPr/>
        </p:nvSpPr>
        <p:spPr>
          <a:xfrm xmlns:a="http://schemas.openxmlformats.org/drawingml/2006/main">
            <a:off x="4000500" y="4048125"/>
            <a:ext cx="7239000" cy="1095375"/>
          </a:xfrm>
          <a:prstGeom xmlns:a="http://schemas.openxmlformats.org/drawingml/2006/main" prst="roundRect">
            <a:avLst>
              <a:gd name="adj" fmla="val 10435"/>
            </a:avLst>
          </a:prstGeom>
          <a:solidFill xmlns:a="http://schemas.openxmlformats.org/drawingml/2006/main">
            <a:srgbClr val="F1F5F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C6B09B3-605E-41D5-B7A6-CB11F39DAF32}"/>
              </a:ext>
            </a:extLst>
          </p:cNvPr>
          <p:cNvSpPr>
            <a:spLocks xmlns:a="http://schemas.openxmlformats.org/drawingml/2006/main" noGrp="1"/>
          </p:cNvSpPr>
          <p:nvPr/>
        </p:nvSpPr>
        <p:spPr>
          <a:xfrm xmlns:a="http://schemas.openxmlformats.org/drawingml/2006/main">
            <a:off x="4267200" y="4352925"/>
            <a:ext cx="657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A18"/>
                </a:solidFill>
                <a:latin typeface="Helvetica Neue"/>
                <a:ea typeface="Helvetica Neue"/>
                <a:cs typeface="Helvetica Neue"/>
              </a:defRPr>
            </a:pPr>
            <a:r>
              <a:rPr sz="1500" b="1">
                <a:solidFill>
                  <a:srgbClr val="101A18"/>
                </a:solidFill>
                <a:latin typeface="Helvetica Neue"/>
                <a:ea typeface="Helvetica Neue"/>
                <a:cs typeface="Helvetica Neue"/>
              </a:rPr>
              <a:t>Core workflow is designed for photo-first meal logging, macro tracking, meal planning and ongoing progress visibility.</a:t>
            </a:r>
          </a:p>
        </p:txBody>
      </p:sp>
      <p:sp>
        <p:nvSpPr>
          <p:cNvPr id="18" name="">
            <a:extLst xmlns:a="http://schemas.openxmlformats.org/drawingml/2006/main">
              <a:ext uri="{FF2B5EF4-FFF2-40B4-BE49-F238E27FC236}">
                <a16:creationId xmlns:a16="http://schemas.microsoft.com/office/drawing/2014/main" id="{5662B428-C5EF-4AA1-836D-794B1274F205}"/>
              </a:ext>
            </a:extLst>
          </p:cNvPr>
          <p:cNvSpPr>
            <a:spLocks xmlns:a="http://schemas.openxmlformats.org/drawingml/2006/main" noGrp="1"/>
          </p:cNvSpPr>
          <p:nvPr/>
        </p:nvSpPr>
        <p:spPr>
          <a:xfrm xmlns:a="http://schemas.openxmlformats.org/drawingml/2006/main">
            <a:off x="400050" y="6429375"/>
            <a:ext cx="885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C6965"/>
                </a:solidFill>
                <a:latin typeface="Helvetica Neue"/>
                <a:ea typeface="Helvetica Neue"/>
                <a:cs typeface="Helvetica Neue"/>
              </a:defRPr>
            </a:pPr>
            <a:r>
              <a:rPr sz="750" b="0">
                <a:solidFill>
                  <a:srgbClr val="5C6965"/>
                </a:solidFill>
                <a:latin typeface="Helvetica Neue"/>
                <a:ea typeface="Helvetica Neue"/>
                <a:cs typeface="Helvetica Neue"/>
              </a:rPr>
              <a:t>Source: Calkilo repository — public product, pricing &amp; Search Console data (Feb 4–May 3, 2026).</a:t>
            </a:r>
          </a:p>
        </p:txBody>
      </p:sp>
    </p:spTree>
    <p:extLst>
      <p:ext uri="{BB962C8B-B14F-4D97-AF65-F5344CB8AC3E}">
        <p14:creationId xmlns:p14="http://schemas.microsoft.com/office/powerpoint/2010/main" val="4752886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26C01A0-8781-4194-8E4E-F5FAC664AF68}"/>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2A56B"/>
                </a:solidFill>
                <a:latin typeface="Helvetica Neue"/>
                <a:ea typeface="Helvetica Neue"/>
                <a:cs typeface="Helvetica Neue"/>
              </a:defRPr>
            </a:pPr>
            <a:r>
              <a:rPr sz="900" b="1">
                <a:solidFill>
                  <a:srgbClr val="22A56B"/>
                </a:solidFill>
                <a:latin typeface="Helvetica Neue"/>
                <a:ea typeface="Helvetica Neue"/>
                <a:cs typeface="Helvetica Neue"/>
              </a:rPr>
              <a:t>CALKILO | INVESTOR DECK</a:t>
            </a:r>
          </a:p>
        </p:txBody>
      </p:sp>
      <p:sp>
        <p:nvSpPr>
          <p:cNvPr id="2" name="">
            <a:extLst xmlns:a="http://schemas.openxmlformats.org/drawingml/2006/main">
              <a:ext uri="{FF2B5EF4-FFF2-40B4-BE49-F238E27FC236}">
                <a16:creationId xmlns:a16="http://schemas.microsoft.com/office/drawing/2014/main" id="{698ACE0B-E201-46D5-9301-1535B14C3D04}"/>
              </a:ext>
            </a:extLst>
          </p:cNvPr>
          <p:cNvSpPr>
            <a:spLocks xmlns:a="http://schemas.openxmlformats.org/drawingml/2006/main" noGrp="1"/>
          </p:cNvSpPr>
          <p:nvPr/>
        </p:nvSpPr>
        <p:spPr>
          <a:xfrm xmlns:a="http://schemas.openxmlformats.org/drawingml/2006/main">
            <a:off x="4000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01A18"/>
                </a:solidFill>
                <a:latin typeface="Helvetica Neue"/>
                <a:ea typeface="Helvetica Neue"/>
                <a:cs typeface="Helvetica Neue"/>
              </a:defRPr>
            </a:pPr>
            <a:r>
              <a:rPr sz="3000" b="1">
                <a:solidFill>
                  <a:srgbClr val="101A18"/>
                </a:solidFill>
                <a:latin typeface="Helvetica Neue"/>
                <a:ea typeface="Helvetica Neue"/>
                <a:cs typeface="Helvetica Neue"/>
              </a:rPr>
              <a:t>Calkilo layers high-frequency tracking with premium guidance.</a:t>
            </a:r>
          </a:p>
        </p:txBody>
      </p:sp>
      <p:sp>
        <p:nvSpPr>
          <p:cNvPr id="3" name="">
            <a:extLst xmlns:a="http://schemas.openxmlformats.org/drawingml/2006/main">
              <a:ext uri="{FF2B5EF4-FFF2-40B4-BE49-F238E27FC236}">
                <a16:creationId xmlns:a16="http://schemas.microsoft.com/office/drawing/2014/main" id="{49A33637-E895-42A8-A209-CD0633D7CBA7}"/>
              </a:ext>
            </a:extLst>
          </p:cNvPr>
          <p:cNvSpPr>
            <a:spLocks xmlns:a="http://schemas.openxmlformats.org/drawingml/2006/main" noGrp="1"/>
          </p:cNvSpPr>
          <p:nvPr/>
        </p:nvSpPr>
        <p:spPr>
          <a:xfrm xmlns:a="http://schemas.openxmlformats.org/drawingml/2006/main">
            <a:off x="11239500" y="63817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C6965"/>
                </a:solidFill>
                <a:latin typeface="Helvetica Neue"/>
                <a:ea typeface="Helvetica Neue"/>
                <a:cs typeface="Helvetica Neue"/>
              </a:defRPr>
            </a:pPr>
            <a:r>
              <a:rPr sz="900" b="0">
                <a:solidFill>
                  <a:srgbClr val="5C6965"/>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BA1CCCB1-7D4F-4E89-B48C-F5A015A13F47}"/>
              </a:ext>
            </a:extLst>
          </p:cNvPr>
          <p:cNvSpPr>
            <a:spLocks xmlns:a="http://schemas.openxmlformats.org/drawingml/2006/main" noGrp="1"/>
          </p:cNvSpPr>
          <p:nvPr/>
        </p:nvSpPr>
        <p:spPr>
          <a:xfrm xmlns:a="http://schemas.openxmlformats.org/drawingml/2006/main">
            <a:off x="400050" y="1571625"/>
            <a:ext cx="5391150" cy="1571625"/>
          </a:xfrm>
          <a:prstGeom xmlns:a="http://schemas.openxmlformats.org/drawingml/2006/main" prst="roundRect">
            <a:avLst>
              <a:gd name="adj" fmla="val 7273"/>
            </a:avLst>
          </a:prstGeom>
          <a:solidFill xmlns:a="http://schemas.openxmlformats.org/drawingml/2006/main">
            <a:srgbClr val="F1F5F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32BC4E-36EA-49D2-AC21-8B389198590C}"/>
              </a:ext>
            </a:extLst>
          </p:cNvPr>
          <p:cNvSpPr>
            <a:spLocks xmlns:a="http://schemas.openxmlformats.org/drawingml/2006/main" noGrp="1"/>
          </p:cNvSpPr>
          <p:nvPr/>
        </p:nvSpPr>
        <p:spPr>
          <a:xfrm xmlns:a="http://schemas.openxmlformats.org/drawingml/2006/main">
            <a:off x="647700" y="1809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A18"/>
                </a:solidFill>
                <a:latin typeface="Helvetica Neue"/>
                <a:ea typeface="Helvetica Neue"/>
                <a:cs typeface="Helvetica Neue"/>
              </a:defRPr>
            </a:pPr>
            <a:r>
              <a:rPr sz="1800" b="1">
                <a:solidFill>
                  <a:srgbClr val="101A18"/>
                </a:solidFill>
                <a:latin typeface="Helvetica Neue"/>
                <a:ea typeface="Helvetica Neue"/>
                <a:cs typeface="Helvetica Neue"/>
              </a:rPr>
              <a:t>Photo calorie estimation</a:t>
            </a:r>
          </a:p>
        </p:txBody>
      </p:sp>
      <p:sp>
        <p:nvSpPr>
          <p:cNvPr id="6" name="">
            <a:extLst xmlns:a="http://schemas.openxmlformats.org/drawingml/2006/main">
              <a:ext uri="{FF2B5EF4-FFF2-40B4-BE49-F238E27FC236}">
                <a16:creationId xmlns:a16="http://schemas.microsoft.com/office/drawing/2014/main" id="{A9BDE070-4413-4AAB-9A5A-315AFF858AB7}"/>
              </a:ext>
            </a:extLst>
          </p:cNvPr>
          <p:cNvSpPr>
            <a:spLocks xmlns:a="http://schemas.openxmlformats.org/drawingml/2006/main" noGrp="1"/>
          </p:cNvSpPr>
          <p:nvPr/>
        </p:nvSpPr>
        <p:spPr>
          <a:xfrm xmlns:a="http://schemas.openxmlformats.org/drawingml/2006/main">
            <a:off x="647700" y="2257425"/>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C6965"/>
                </a:solidFill>
                <a:latin typeface="Helvetica Neue"/>
                <a:ea typeface="Helvetica Neue"/>
                <a:cs typeface="Helvetica Neue"/>
              </a:defRPr>
            </a:pPr>
            <a:r>
              <a:rPr sz="1350" b="0">
                <a:solidFill>
                  <a:srgbClr val="5C6965"/>
                </a:solidFill>
                <a:latin typeface="Helvetica Neue"/>
                <a:ea typeface="Helvetica Neue"/>
                <a:cs typeface="Helvetica Neue"/>
              </a:rPr>
              <a:t>AI-assisted recognition of meals, ingredients, portions and nutrition estimates.</a:t>
            </a:r>
          </a:p>
        </p:txBody>
      </p:sp>
      <p:sp>
        <p:nvSpPr>
          <p:cNvPr id="7" name="">
            <a:extLst xmlns:a="http://schemas.openxmlformats.org/drawingml/2006/main">
              <a:ext uri="{FF2B5EF4-FFF2-40B4-BE49-F238E27FC236}">
                <a16:creationId xmlns:a16="http://schemas.microsoft.com/office/drawing/2014/main" id="{599DD53B-AD3D-43A2-8188-153A46CB20ED}"/>
              </a:ext>
            </a:extLst>
          </p:cNvPr>
          <p:cNvSpPr>
            <a:spLocks xmlns:a="http://schemas.openxmlformats.org/drawingml/2006/main" noGrp="1"/>
          </p:cNvSpPr>
          <p:nvPr/>
        </p:nvSpPr>
        <p:spPr>
          <a:xfrm xmlns:a="http://schemas.openxmlformats.org/drawingml/2006/main">
            <a:off x="6210300" y="1571625"/>
            <a:ext cx="5391150" cy="1571625"/>
          </a:xfrm>
          <a:prstGeom xmlns:a="http://schemas.openxmlformats.org/drawingml/2006/main" prst="roundRect">
            <a:avLst>
              <a:gd name="adj" fmla="val 7273"/>
            </a:avLst>
          </a:prstGeom>
          <a:solidFill xmlns:a="http://schemas.openxmlformats.org/drawingml/2006/main">
            <a:srgbClr val="F1F5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A73AAB-CED4-45DA-AB6D-BD4C95ECCDF0}"/>
              </a:ext>
            </a:extLst>
          </p:cNvPr>
          <p:cNvSpPr>
            <a:spLocks xmlns:a="http://schemas.openxmlformats.org/drawingml/2006/main" noGrp="1"/>
          </p:cNvSpPr>
          <p:nvPr/>
        </p:nvSpPr>
        <p:spPr>
          <a:xfrm xmlns:a="http://schemas.openxmlformats.org/drawingml/2006/main">
            <a:off x="6457950" y="1809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A18"/>
                </a:solidFill>
                <a:latin typeface="Helvetica Neue"/>
                <a:ea typeface="Helvetica Neue"/>
                <a:cs typeface="Helvetica Neue"/>
              </a:defRPr>
            </a:pPr>
            <a:r>
              <a:rPr sz="1800" b="1">
                <a:solidFill>
                  <a:srgbClr val="101A18"/>
                </a:solidFill>
                <a:latin typeface="Helvetica Neue"/>
                <a:ea typeface="Helvetica Neue"/>
                <a:cs typeface="Helvetica Neue"/>
              </a:rPr>
              <a:t>Macro &amp; food logging</a:t>
            </a:r>
          </a:p>
        </p:txBody>
      </p:sp>
      <p:sp>
        <p:nvSpPr>
          <p:cNvPr id="9" name="">
            <a:extLst xmlns:a="http://schemas.openxmlformats.org/drawingml/2006/main">
              <a:ext uri="{FF2B5EF4-FFF2-40B4-BE49-F238E27FC236}">
                <a16:creationId xmlns:a16="http://schemas.microsoft.com/office/drawing/2014/main" id="{25709F1D-C4E2-4F94-A597-915E08E06FFE}"/>
              </a:ext>
            </a:extLst>
          </p:cNvPr>
          <p:cNvSpPr>
            <a:spLocks xmlns:a="http://schemas.openxmlformats.org/drawingml/2006/main" noGrp="1"/>
          </p:cNvSpPr>
          <p:nvPr/>
        </p:nvSpPr>
        <p:spPr>
          <a:xfrm xmlns:a="http://schemas.openxmlformats.org/drawingml/2006/main">
            <a:off x="6457950" y="2257425"/>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C6965"/>
                </a:solidFill>
                <a:latin typeface="Helvetica Neue"/>
                <a:ea typeface="Helvetica Neue"/>
                <a:cs typeface="Helvetica Neue"/>
              </a:defRPr>
            </a:pPr>
            <a:r>
              <a:rPr sz="1350" b="0">
                <a:solidFill>
                  <a:srgbClr val="5C6965"/>
                </a:solidFill>
                <a:latin typeface="Helvetica Neue"/>
                <a:ea typeface="Helvetica Neue"/>
                <a:cs typeface="Helvetica Neue"/>
              </a:rPr>
              <a:t>Daily records for calories, protein, carbohydrates and fat.</a:t>
            </a:r>
          </a:p>
        </p:txBody>
      </p:sp>
      <p:sp>
        <p:nvSpPr>
          <p:cNvPr id="10" name="">
            <a:extLst xmlns:a="http://schemas.openxmlformats.org/drawingml/2006/main">
              <a:ext uri="{FF2B5EF4-FFF2-40B4-BE49-F238E27FC236}">
                <a16:creationId xmlns:a16="http://schemas.microsoft.com/office/drawing/2014/main" id="{D5338459-C5AC-411C-ABC9-3B5C8B9609EA}"/>
              </a:ext>
            </a:extLst>
          </p:cNvPr>
          <p:cNvSpPr>
            <a:spLocks xmlns:a="http://schemas.openxmlformats.org/drawingml/2006/main" noGrp="1"/>
          </p:cNvSpPr>
          <p:nvPr/>
        </p:nvSpPr>
        <p:spPr>
          <a:xfrm xmlns:a="http://schemas.openxmlformats.org/drawingml/2006/main">
            <a:off x="400050" y="3524250"/>
            <a:ext cx="5391150" cy="1571625"/>
          </a:xfrm>
          <a:prstGeom xmlns:a="http://schemas.openxmlformats.org/drawingml/2006/main" prst="roundRect">
            <a:avLst>
              <a:gd name="adj" fmla="val 7273"/>
            </a:avLst>
          </a:prstGeom>
          <a:solidFill xmlns:a="http://schemas.openxmlformats.org/drawingml/2006/main">
            <a:srgbClr val="F1F5F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E189D54-A61A-4EDB-B05A-747651232F3C}"/>
              </a:ext>
            </a:extLst>
          </p:cNvPr>
          <p:cNvSpPr>
            <a:spLocks xmlns:a="http://schemas.openxmlformats.org/drawingml/2006/main" noGrp="1"/>
          </p:cNvSpPr>
          <p:nvPr/>
        </p:nvSpPr>
        <p:spPr>
          <a:xfrm xmlns:a="http://schemas.openxmlformats.org/drawingml/2006/main">
            <a:off x="647700" y="37623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A18"/>
                </a:solidFill>
                <a:latin typeface="Helvetica Neue"/>
                <a:ea typeface="Helvetica Neue"/>
                <a:cs typeface="Helvetica Neue"/>
              </a:defRPr>
            </a:pPr>
            <a:r>
              <a:rPr sz="1800" b="1">
                <a:solidFill>
                  <a:srgbClr val="101A18"/>
                </a:solidFill>
                <a:latin typeface="Helvetica Neue"/>
                <a:ea typeface="Helvetica Neue"/>
                <a:cs typeface="Helvetica Neue"/>
              </a:rPr>
              <a:t>AI coaching &amp; planning</a:t>
            </a:r>
          </a:p>
        </p:txBody>
      </p:sp>
      <p:sp>
        <p:nvSpPr>
          <p:cNvPr id="12" name="">
            <a:extLst xmlns:a="http://schemas.openxmlformats.org/drawingml/2006/main">
              <a:ext uri="{FF2B5EF4-FFF2-40B4-BE49-F238E27FC236}">
                <a16:creationId xmlns:a16="http://schemas.microsoft.com/office/drawing/2014/main" id="{571C18C0-50D9-493B-9C35-D1514CEA203D}"/>
              </a:ext>
            </a:extLst>
          </p:cNvPr>
          <p:cNvSpPr>
            <a:spLocks xmlns:a="http://schemas.openxmlformats.org/drawingml/2006/main" noGrp="1"/>
          </p:cNvSpPr>
          <p:nvPr/>
        </p:nvSpPr>
        <p:spPr>
          <a:xfrm xmlns:a="http://schemas.openxmlformats.org/drawingml/2006/main">
            <a:off x="647700" y="4210050"/>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C6965"/>
                </a:solidFill>
                <a:latin typeface="Helvetica Neue"/>
                <a:ea typeface="Helvetica Neue"/>
                <a:cs typeface="Helvetica Neue"/>
              </a:defRPr>
            </a:pPr>
            <a:r>
              <a:rPr sz="1350" b="0">
                <a:solidFill>
                  <a:srgbClr val="5C6965"/>
                </a:solidFill>
                <a:latin typeface="Helvetica Neue"/>
                <a:ea typeface="Helvetica Neue"/>
                <a:cs typeface="Helvetica Neue"/>
              </a:rPr>
              <a:t>Personalized meal plans and nutrition support built around goals and history.</a:t>
            </a:r>
          </a:p>
        </p:txBody>
      </p:sp>
      <p:sp>
        <p:nvSpPr>
          <p:cNvPr id="13" name="">
            <a:extLst xmlns:a="http://schemas.openxmlformats.org/drawingml/2006/main">
              <a:ext uri="{FF2B5EF4-FFF2-40B4-BE49-F238E27FC236}">
                <a16:creationId xmlns:a16="http://schemas.microsoft.com/office/drawing/2014/main" id="{4D451031-B323-4A3C-B31A-774F35BF137A}"/>
              </a:ext>
            </a:extLst>
          </p:cNvPr>
          <p:cNvSpPr>
            <a:spLocks xmlns:a="http://schemas.openxmlformats.org/drawingml/2006/main" noGrp="1"/>
          </p:cNvSpPr>
          <p:nvPr/>
        </p:nvSpPr>
        <p:spPr>
          <a:xfrm xmlns:a="http://schemas.openxmlformats.org/drawingml/2006/main">
            <a:off x="6210300" y="3524250"/>
            <a:ext cx="5391150" cy="1571625"/>
          </a:xfrm>
          <a:prstGeom xmlns:a="http://schemas.openxmlformats.org/drawingml/2006/main" prst="roundRect">
            <a:avLst>
              <a:gd name="adj" fmla="val 7273"/>
            </a:avLst>
          </a:prstGeom>
          <a:solidFill xmlns:a="http://schemas.openxmlformats.org/drawingml/2006/main">
            <a:srgbClr val="F1F5F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32D556C-A54D-47A0-8EAD-100CBA6EDCE4}"/>
              </a:ext>
            </a:extLst>
          </p:cNvPr>
          <p:cNvSpPr>
            <a:spLocks xmlns:a="http://schemas.openxmlformats.org/drawingml/2006/main" noGrp="1"/>
          </p:cNvSpPr>
          <p:nvPr/>
        </p:nvSpPr>
        <p:spPr>
          <a:xfrm xmlns:a="http://schemas.openxmlformats.org/drawingml/2006/main">
            <a:off x="6457950" y="37623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A18"/>
                </a:solidFill>
                <a:latin typeface="Helvetica Neue"/>
                <a:ea typeface="Helvetica Neue"/>
                <a:cs typeface="Helvetica Neue"/>
              </a:defRPr>
            </a:pPr>
            <a:r>
              <a:rPr sz="1800" b="1">
                <a:solidFill>
                  <a:srgbClr val="101A18"/>
                </a:solidFill>
                <a:latin typeface="Helvetica Neue"/>
                <a:ea typeface="Helvetica Neue"/>
                <a:cs typeface="Helvetica Neue"/>
              </a:rPr>
              <a:t>Motivation &amp; progress</a:t>
            </a:r>
          </a:p>
        </p:txBody>
      </p:sp>
      <p:sp>
        <p:nvSpPr>
          <p:cNvPr id="15" name="">
            <a:extLst xmlns:a="http://schemas.openxmlformats.org/drawingml/2006/main">
              <a:ext uri="{FF2B5EF4-FFF2-40B4-BE49-F238E27FC236}">
                <a16:creationId xmlns:a16="http://schemas.microsoft.com/office/drawing/2014/main" id="{9C55C0E1-4C4A-4EC8-9AD1-40E4F0A9BA04}"/>
              </a:ext>
            </a:extLst>
          </p:cNvPr>
          <p:cNvSpPr>
            <a:spLocks xmlns:a="http://schemas.openxmlformats.org/drawingml/2006/main" noGrp="1"/>
          </p:cNvSpPr>
          <p:nvPr/>
        </p:nvSpPr>
        <p:spPr>
          <a:xfrm xmlns:a="http://schemas.openxmlformats.org/drawingml/2006/main">
            <a:off x="6457950" y="4210050"/>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C6965"/>
                </a:solidFill>
                <a:latin typeface="Helvetica Neue"/>
                <a:ea typeface="Helvetica Neue"/>
                <a:cs typeface="Helvetica Neue"/>
              </a:defRPr>
            </a:pPr>
            <a:r>
              <a:rPr sz="1350" b="0">
                <a:solidFill>
                  <a:srgbClr val="5C6965"/>
                </a:solidFill>
                <a:latin typeface="Helvetica Neue"/>
                <a:ea typeface="Helvetica Neue"/>
                <a:cs typeface="Helvetica Neue"/>
              </a:rPr>
              <a:t>Goals, analytics, challenges and health-oriented tracking.</a:t>
            </a:r>
          </a:p>
        </p:txBody>
      </p:sp>
      <p:sp>
        <p:nvSpPr>
          <p:cNvPr id="16" name="">
            <a:extLst xmlns:a="http://schemas.openxmlformats.org/drawingml/2006/main">
              <a:ext uri="{FF2B5EF4-FFF2-40B4-BE49-F238E27FC236}">
                <a16:creationId xmlns:a16="http://schemas.microsoft.com/office/drawing/2014/main" id="{EB236D72-A365-4692-9C76-CD3A0C0B4822}"/>
              </a:ext>
            </a:extLst>
          </p:cNvPr>
          <p:cNvSpPr>
            <a:spLocks xmlns:a="http://schemas.openxmlformats.org/drawingml/2006/main" noGrp="1"/>
          </p:cNvSpPr>
          <p:nvPr/>
        </p:nvSpPr>
        <p:spPr>
          <a:xfrm xmlns:a="http://schemas.openxmlformats.org/drawingml/2006/main">
            <a:off x="400050" y="6429375"/>
            <a:ext cx="885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C6965"/>
                </a:solidFill>
                <a:latin typeface="Helvetica Neue"/>
                <a:ea typeface="Helvetica Neue"/>
                <a:cs typeface="Helvetica Neue"/>
              </a:defRPr>
            </a:pPr>
            <a:r>
              <a:rPr sz="750" b="0">
                <a:solidFill>
                  <a:srgbClr val="5C6965"/>
                </a:solidFill>
                <a:latin typeface="Helvetica Neue"/>
                <a:ea typeface="Helvetica Neue"/>
                <a:cs typeface="Helvetica Neue"/>
              </a:rPr>
              <a:t>Source: Calkilo repository — public product, pricing &amp; Search Console data (Feb 4–May 3, 2026).</a:t>
            </a:r>
          </a:p>
        </p:txBody>
      </p:sp>
    </p:spTree>
    <p:extLst>
      <p:ext uri="{BB962C8B-B14F-4D97-AF65-F5344CB8AC3E}">
        <p14:creationId xmlns:p14="http://schemas.microsoft.com/office/powerpoint/2010/main" val="23287187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58F6EB8-74BF-48FD-8CC5-D1874AC4B946}"/>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2A56B"/>
                </a:solidFill>
                <a:latin typeface="Helvetica Neue"/>
                <a:ea typeface="Helvetica Neue"/>
                <a:cs typeface="Helvetica Neue"/>
              </a:defRPr>
            </a:pPr>
            <a:r>
              <a:rPr sz="900" b="1">
                <a:solidFill>
                  <a:srgbClr val="22A56B"/>
                </a:solidFill>
                <a:latin typeface="Helvetica Neue"/>
                <a:ea typeface="Helvetica Neue"/>
                <a:cs typeface="Helvetica Neue"/>
              </a:rPr>
              <a:t>CALKILO | INVESTOR DECK</a:t>
            </a:r>
          </a:p>
        </p:txBody>
      </p:sp>
      <p:sp>
        <p:nvSpPr>
          <p:cNvPr id="2" name="">
            <a:extLst xmlns:a="http://schemas.openxmlformats.org/drawingml/2006/main">
              <a:ext uri="{FF2B5EF4-FFF2-40B4-BE49-F238E27FC236}">
                <a16:creationId xmlns:a16="http://schemas.microsoft.com/office/drawing/2014/main" id="{B14D0652-E9AA-4493-BFEB-62A4C21F4A28}"/>
              </a:ext>
            </a:extLst>
          </p:cNvPr>
          <p:cNvSpPr>
            <a:spLocks xmlns:a="http://schemas.openxmlformats.org/drawingml/2006/main" noGrp="1"/>
          </p:cNvSpPr>
          <p:nvPr/>
        </p:nvSpPr>
        <p:spPr>
          <a:xfrm xmlns:a="http://schemas.openxmlformats.org/drawingml/2006/main">
            <a:off x="4000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01A18"/>
                </a:solidFill>
                <a:latin typeface="Helvetica Neue"/>
                <a:ea typeface="Helvetica Neue"/>
                <a:cs typeface="Helvetica Neue"/>
              </a:defRPr>
            </a:pPr>
            <a:r>
              <a:rPr sz="3000" b="1">
                <a:solidFill>
                  <a:srgbClr val="101A18"/>
                </a:solidFill>
                <a:latin typeface="Helvetica Neue"/>
                <a:ea typeface="Helvetica Neue"/>
                <a:cs typeface="Helvetica Neue"/>
              </a:rPr>
              <a:t>Organic search is already validating product demand.</a:t>
            </a:r>
          </a:p>
        </p:txBody>
      </p:sp>
      <p:sp>
        <p:nvSpPr>
          <p:cNvPr id="3" name="">
            <a:extLst xmlns:a="http://schemas.openxmlformats.org/drawingml/2006/main">
              <a:ext uri="{FF2B5EF4-FFF2-40B4-BE49-F238E27FC236}">
                <a16:creationId xmlns:a16="http://schemas.microsoft.com/office/drawing/2014/main" id="{CB167780-4C5B-426D-A72D-5258F406AD79}"/>
              </a:ext>
            </a:extLst>
          </p:cNvPr>
          <p:cNvSpPr>
            <a:spLocks xmlns:a="http://schemas.openxmlformats.org/drawingml/2006/main" noGrp="1"/>
          </p:cNvSpPr>
          <p:nvPr/>
        </p:nvSpPr>
        <p:spPr>
          <a:xfrm xmlns:a="http://schemas.openxmlformats.org/drawingml/2006/main">
            <a:off x="11239500" y="63817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C6965"/>
                </a:solidFill>
                <a:latin typeface="Helvetica Neue"/>
                <a:ea typeface="Helvetica Neue"/>
                <a:cs typeface="Helvetica Neue"/>
              </a:defRPr>
            </a:pPr>
            <a:r>
              <a:rPr sz="900" b="0">
                <a:solidFill>
                  <a:srgbClr val="5C6965"/>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AD8348D7-91BC-48AE-987D-B767C1407071}"/>
              </a:ext>
            </a:extLst>
          </p:cNvPr>
          <p:cNvSpPr>
            <a:spLocks xmlns:a="http://schemas.openxmlformats.org/drawingml/2006/main" noGrp="1"/>
          </p:cNvSpPr>
          <p:nvPr/>
        </p:nvSpPr>
        <p:spPr>
          <a:xfrm xmlns:a="http://schemas.openxmlformats.org/drawingml/2006/main">
            <a:off x="400050" y="1333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2A56B"/>
                </a:solidFill>
                <a:latin typeface="Helvetica Neue"/>
                <a:ea typeface="Helvetica Neue"/>
                <a:cs typeface="Helvetica Neue"/>
              </a:defRPr>
            </a:pPr>
            <a:r>
              <a:rPr sz="1275" b="1">
                <a:solidFill>
                  <a:srgbClr val="22A56B"/>
                </a:solidFill>
                <a:latin typeface="Helvetica Neue"/>
                <a:ea typeface="Helvetica Neue"/>
                <a:cs typeface="Helvetica Neue"/>
              </a:rPr>
              <a:t>Search Console | Feb 4–May 3, 2026</a:t>
            </a:r>
          </a:p>
        </p:txBody>
      </p:sp>
      <p:sp>
        <p:nvSpPr>
          <p:cNvPr id="5" name="">
            <a:extLst xmlns:a="http://schemas.openxmlformats.org/drawingml/2006/main">
              <a:ext uri="{FF2B5EF4-FFF2-40B4-BE49-F238E27FC236}">
                <a16:creationId xmlns:a16="http://schemas.microsoft.com/office/drawing/2014/main" id="{D1B5D4AC-0906-4FBB-B925-AF2DE0EA83A8}"/>
              </a:ext>
            </a:extLst>
          </p:cNvPr>
          <p:cNvSpPr>
            <a:spLocks xmlns:a="http://schemas.openxmlformats.org/drawingml/2006/main" noGrp="1"/>
          </p:cNvSpPr>
          <p:nvPr/>
        </p:nvSpPr>
        <p:spPr>
          <a:xfrm xmlns:a="http://schemas.openxmlformats.org/drawingml/2006/main">
            <a:off x="400050" y="1876425"/>
            <a:ext cx="2476500" cy="1238250"/>
          </a:xfrm>
          <a:prstGeom xmlns:a="http://schemas.openxmlformats.org/drawingml/2006/main" prst="roundRect">
            <a:avLst>
              <a:gd name="adj" fmla="val 9231"/>
            </a:avLst>
          </a:prstGeom>
          <a:solidFill xmlns:a="http://schemas.openxmlformats.org/drawingml/2006/main">
            <a:srgbClr val="F1F5F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34AF01C-8FF9-4B55-8B23-E1734A1A0F7E}"/>
              </a:ext>
            </a:extLst>
          </p:cNvPr>
          <p:cNvSpPr>
            <a:spLocks xmlns:a="http://schemas.openxmlformats.org/drawingml/2006/main" noGrp="1"/>
          </p:cNvSpPr>
          <p:nvPr/>
        </p:nvSpPr>
        <p:spPr>
          <a:xfrm xmlns:a="http://schemas.openxmlformats.org/drawingml/2006/main">
            <a:off x="571500" y="2095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A18"/>
                </a:solidFill>
                <a:latin typeface="Helvetica Neue"/>
                <a:ea typeface="Helvetica Neue"/>
                <a:cs typeface="Helvetica Neue"/>
              </a:defRPr>
            </a:pPr>
            <a:r>
              <a:rPr sz="2550" b="1">
                <a:solidFill>
                  <a:srgbClr val="101A18"/>
                </a:solidFill>
                <a:latin typeface="Helvetica Neue"/>
                <a:ea typeface="Helvetica Neue"/>
                <a:cs typeface="Helvetica Neue"/>
              </a:rPr>
              <a:t>2,317</a:t>
            </a:r>
          </a:p>
        </p:txBody>
      </p:sp>
      <p:sp>
        <p:nvSpPr>
          <p:cNvPr id="7" name="">
            <a:extLst xmlns:a="http://schemas.openxmlformats.org/drawingml/2006/main">
              <a:ext uri="{FF2B5EF4-FFF2-40B4-BE49-F238E27FC236}">
                <a16:creationId xmlns:a16="http://schemas.microsoft.com/office/drawing/2014/main" id="{CF80EAA4-AF3C-4BD6-990E-D393E8114A15}"/>
              </a:ext>
            </a:extLst>
          </p:cNvPr>
          <p:cNvSpPr>
            <a:spLocks xmlns:a="http://schemas.openxmlformats.org/drawingml/2006/main" noGrp="1"/>
          </p:cNvSpPr>
          <p:nvPr/>
        </p:nvSpPr>
        <p:spPr>
          <a:xfrm xmlns:a="http://schemas.openxmlformats.org/drawingml/2006/main">
            <a:off x="571500" y="25812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C6965"/>
                </a:solidFill>
                <a:latin typeface="Helvetica Neue"/>
                <a:ea typeface="Helvetica Neue"/>
                <a:cs typeface="Helvetica Neue"/>
              </a:defRPr>
            </a:pPr>
            <a:r>
              <a:rPr sz="1275" b="0">
                <a:solidFill>
                  <a:srgbClr val="5C6965"/>
                </a:solidFill>
                <a:latin typeface="Helvetica Neue"/>
                <a:ea typeface="Helvetica Neue"/>
                <a:cs typeface="Helvetica Neue"/>
              </a:rPr>
              <a:t>impressions</a:t>
            </a:r>
          </a:p>
        </p:txBody>
      </p:sp>
      <p:sp>
        <p:nvSpPr>
          <p:cNvPr id="8" name="">
            <a:extLst xmlns:a="http://schemas.openxmlformats.org/drawingml/2006/main">
              <a:ext uri="{FF2B5EF4-FFF2-40B4-BE49-F238E27FC236}">
                <a16:creationId xmlns:a16="http://schemas.microsoft.com/office/drawing/2014/main" id="{FD8B27CC-8505-4906-B873-0B9B1ABEE8E8}"/>
              </a:ext>
            </a:extLst>
          </p:cNvPr>
          <p:cNvSpPr>
            <a:spLocks xmlns:a="http://schemas.openxmlformats.org/drawingml/2006/main" noGrp="1"/>
          </p:cNvSpPr>
          <p:nvPr/>
        </p:nvSpPr>
        <p:spPr>
          <a:xfrm xmlns:a="http://schemas.openxmlformats.org/drawingml/2006/main">
            <a:off x="3209925" y="1876425"/>
            <a:ext cx="2476500" cy="1238250"/>
          </a:xfrm>
          <a:prstGeom xmlns:a="http://schemas.openxmlformats.org/drawingml/2006/main" prst="roundRect">
            <a:avLst>
              <a:gd name="adj" fmla="val 9231"/>
            </a:avLst>
          </a:prstGeom>
          <a:solidFill xmlns:a="http://schemas.openxmlformats.org/drawingml/2006/main">
            <a:srgbClr val="F1F5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494C578-E3CB-4CAA-883C-0B95C82BD8C4}"/>
              </a:ext>
            </a:extLst>
          </p:cNvPr>
          <p:cNvSpPr>
            <a:spLocks xmlns:a="http://schemas.openxmlformats.org/drawingml/2006/main" noGrp="1"/>
          </p:cNvSpPr>
          <p:nvPr/>
        </p:nvSpPr>
        <p:spPr>
          <a:xfrm xmlns:a="http://schemas.openxmlformats.org/drawingml/2006/main">
            <a:off x="3381375" y="2095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A18"/>
                </a:solidFill>
                <a:latin typeface="Helvetica Neue"/>
                <a:ea typeface="Helvetica Neue"/>
                <a:cs typeface="Helvetica Neue"/>
              </a:defRPr>
            </a:pPr>
            <a:r>
              <a:rPr sz="2550" b="1">
                <a:solidFill>
                  <a:srgbClr val="101A18"/>
                </a:solidFill>
                <a:latin typeface="Helvetica Neue"/>
                <a:ea typeface="Helvetica Neue"/>
                <a:cs typeface="Helvetica Neue"/>
              </a:rPr>
              <a:t>89</a:t>
            </a:r>
          </a:p>
        </p:txBody>
      </p:sp>
      <p:sp>
        <p:nvSpPr>
          <p:cNvPr id="10" name="">
            <a:extLst xmlns:a="http://schemas.openxmlformats.org/drawingml/2006/main">
              <a:ext uri="{FF2B5EF4-FFF2-40B4-BE49-F238E27FC236}">
                <a16:creationId xmlns:a16="http://schemas.microsoft.com/office/drawing/2014/main" id="{FC732432-004B-4F6B-84CA-5F27CBE9EEC4}"/>
              </a:ext>
            </a:extLst>
          </p:cNvPr>
          <p:cNvSpPr>
            <a:spLocks xmlns:a="http://schemas.openxmlformats.org/drawingml/2006/main" noGrp="1"/>
          </p:cNvSpPr>
          <p:nvPr/>
        </p:nvSpPr>
        <p:spPr>
          <a:xfrm xmlns:a="http://schemas.openxmlformats.org/drawingml/2006/main">
            <a:off x="3381375" y="25812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C6965"/>
                </a:solidFill>
                <a:latin typeface="Helvetica Neue"/>
                <a:ea typeface="Helvetica Neue"/>
                <a:cs typeface="Helvetica Neue"/>
              </a:defRPr>
            </a:pPr>
            <a:r>
              <a:rPr sz="1275" b="0">
                <a:solidFill>
                  <a:srgbClr val="5C6965"/>
                </a:solidFill>
                <a:latin typeface="Helvetica Neue"/>
                <a:ea typeface="Helvetica Neue"/>
                <a:cs typeface="Helvetica Neue"/>
              </a:rPr>
              <a:t>clicks</a:t>
            </a:r>
          </a:p>
        </p:txBody>
      </p:sp>
      <p:sp>
        <p:nvSpPr>
          <p:cNvPr id="11" name="">
            <a:extLst xmlns:a="http://schemas.openxmlformats.org/drawingml/2006/main">
              <a:ext uri="{FF2B5EF4-FFF2-40B4-BE49-F238E27FC236}">
                <a16:creationId xmlns:a16="http://schemas.microsoft.com/office/drawing/2014/main" id="{9FEB1096-9CD7-456B-AD0B-8DDEECD93DAD}"/>
              </a:ext>
            </a:extLst>
          </p:cNvPr>
          <p:cNvSpPr>
            <a:spLocks xmlns:a="http://schemas.openxmlformats.org/drawingml/2006/main" noGrp="1"/>
          </p:cNvSpPr>
          <p:nvPr/>
        </p:nvSpPr>
        <p:spPr>
          <a:xfrm xmlns:a="http://schemas.openxmlformats.org/drawingml/2006/main">
            <a:off x="6019800" y="1876425"/>
            <a:ext cx="2476500" cy="1238250"/>
          </a:xfrm>
          <a:prstGeom xmlns:a="http://schemas.openxmlformats.org/drawingml/2006/main" prst="roundRect">
            <a:avLst>
              <a:gd name="adj" fmla="val 9231"/>
            </a:avLst>
          </a:prstGeom>
          <a:solidFill xmlns:a="http://schemas.openxmlformats.org/drawingml/2006/main">
            <a:srgbClr val="F1F5F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CB68E16-0990-4938-BEBC-E2D2EF4A8C4C}"/>
              </a:ext>
            </a:extLst>
          </p:cNvPr>
          <p:cNvSpPr>
            <a:spLocks xmlns:a="http://schemas.openxmlformats.org/drawingml/2006/main" noGrp="1"/>
          </p:cNvSpPr>
          <p:nvPr/>
        </p:nvSpPr>
        <p:spPr>
          <a:xfrm xmlns:a="http://schemas.openxmlformats.org/drawingml/2006/main">
            <a:off x="6191250" y="2095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A18"/>
                </a:solidFill>
                <a:latin typeface="Helvetica Neue"/>
                <a:ea typeface="Helvetica Neue"/>
                <a:cs typeface="Helvetica Neue"/>
              </a:defRPr>
            </a:pPr>
            <a:r>
              <a:rPr sz="2550" b="1">
                <a:solidFill>
                  <a:srgbClr val="101A18"/>
                </a:solidFill>
                <a:latin typeface="Helvetica Neue"/>
                <a:ea typeface="Helvetica Neue"/>
                <a:cs typeface="Helvetica Neue"/>
              </a:rPr>
              <a:t>3.84%</a:t>
            </a:r>
          </a:p>
        </p:txBody>
      </p:sp>
      <p:sp>
        <p:nvSpPr>
          <p:cNvPr id="13" name="">
            <a:extLst xmlns:a="http://schemas.openxmlformats.org/drawingml/2006/main">
              <a:ext uri="{FF2B5EF4-FFF2-40B4-BE49-F238E27FC236}">
                <a16:creationId xmlns:a16="http://schemas.microsoft.com/office/drawing/2014/main" id="{C436828C-E208-4528-891A-0C28D9BC7BCA}"/>
              </a:ext>
            </a:extLst>
          </p:cNvPr>
          <p:cNvSpPr>
            <a:spLocks xmlns:a="http://schemas.openxmlformats.org/drawingml/2006/main" noGrp="1"/>
          </p:cNvSpPr>
          <p:nvPr/>
        </p:nvSpPr>
        <p:spPr>
          <a:xfrm xmlns:a="http://schemas.openxmlformats.org/drawingml/2006/main">
            <a:off x="6191250" y="25812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C6965"/>
                </a:solidFill>
                <a:latin typeface="Helvetica Neue"/>
                <a:ea typeface="Helvetica Neue"/>
                <a:cs typeface="Helvetica Neue"/>
              </a:defRPr>
            </a:pPr>
            <a:r>
              <a:rPr sz="1275" b="0">
                <a:solidFill>
                  <a:srgbClr val="5C6965"/>
                </a:solidFill>
                <a:latin typeface="Helvetica Neue"/>
                <a:ea typeface="Helvetica Neue"/>
                <a:cs typeface="Helvetica Neue"/>
              </a:rPr>
              <a:t>CTR</a:t>
            </a:r>
          </a:p>
        </p:txBody>
      </p:sp>
      <p:sp>
        <p:nvSpPr>
          <p:cNvPr id="14" name="">
            <a:extLst xmlns:a="http://schemas.openxmlformats.org/drawingml/2006/main">
              <a:ext uri="{FF2B5EF4-FFF2-40B4-BE49-F238E27FC236}">
                <a16:creationId xmlns:a16="http://schemas.microsoft.com/office/drawing/2014/main" id="{22FF15F2-240F-4D7B-9AB4-16FBACBD6F93}"/>
              </a:ext>
            </a:extLst>
          </p:cNvPr>
          <p:cNvSpPr>
            <a:spLocks xmlns:a="http://schemas.openxmlformats.org/drawingml/2006/main" noGrp="1"/>
          </p:cNvSpPr>
          <p:nvPr/>
        </p:nvSpPr>
        <p:spPr>
          <a:xfrm xmlns:a="http://schemas.openxmlformats.org/drawingml/2006/main">
            <a:off x="8829675" y="1876425"/>
            <a:ext cx="2476500" cy="1238250"/>
          </a:xfrm>
          <a:prstGeom xmlns:a="http://schemas.openxmlformats.org/drawingml/2006/main" prst="roundRect">
            <a:avLst>
              <a:gd name="adj" fmla="val 9231"/>
            </a:avLst>
          </a:prstGeom>
          <a:solidFill xmlns:a="http://schemas.openxmlformats.org/drawingml/2006/main">
            <a:srgbClr val="F1F5F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09A035F-1D68-4956-BB1B-05134F89AB06}"/>
              </a:ext>
            </a:extLst>
          </p:cNvPr>
          <p:cNvSpPr>
            <a:spLocks xmlns:a="http://schemas.openxmlformats.org/drawingml/2006/main" noGrp="1"/>
          </p:cNvSpPr>
          <p:nvPr/>
        </p:nvSpPr>
        <p:spPr>
          <a:xfrm xmlns:a="http://schemas.openxmlformats.org/drawingml/2006/main">
            <a:off x="9001125" y="2095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A18"/>
                </a:solidFill>
                <a:latin typeface="Helvetica Neue"/>
                <a:ea typeface="Helvetica Neue"/>
                <a:cs typeface="Helvetica Neue"/>
              </a:defRPr>
            </a:pPr>
            <a:r>
              <a:rPr sz="2550" b="1">
                <a:solidFill>
                  <a:srgbClr val="101A18"/>
                </a:solidFill>
                <a:latin typeface="Helvetica Neue"/>
                <a:ea typeface="Helvetica Neue"/>
                <a:cs typeface="Helvetica Neue"/>
              </a:rPr>
              <a:t>8.04</a:t>
            </a:r>
          </a:p>
        </p:txBody>
      </p:sp>
      <p:sp>
        <p:nvSpPr>
          <p:cNvPr id="16" name="">
            <a:extLst xmlns:a="http://schemas.openxmlformats.org/drawingml/2006/main">
              <a:ext uri="{FF2B5EF4-FFF2-40B4-BE49-F238E27FC236}">
                <a16:creationId xmlns:a16="http://schemas.microsoft.com/office/drawing/2014/main" id="{8BB05DE9-A7FC-43F0-84DB-53ACC8F8FAFD}"/>
              </a:ext>
            </a:extLst>
          </p:cNvPr>
          <p:cNvSpPr>
            <a:spLocks xmlns:a="http://schemas.openxmlformats.org/drawingml/2006/main" noGrp="1"/>
          </p:cNvSpPr>
          <p:nvPr/>
        </p:nvSpPr>
        <p:spPr>
          <a:xfrm xmlns:a="http://schemas.openxmlformats.org/drawingml/2006/main">
            <a:off x="9001125" y="25812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C6965"/>
                </a:solidFill>
                <a:latin typeface="Helvetica Neue"/>
                <a:ea typeface="Helvetica Neue"/>
                <a:cs typeface="Helvetica Neue"/>
              </a:defRPr>
            </a:pPr>
            <a:r>
              <a:rPr sz="1275" b="0">
                <a:solidFill>
                  <a:srgbClr val="5C6965"/>
                </a:solidFill>
                <a:latin typeface="Helvetica Neue"/>
                <a:ea typeface="Helvetica Neue"/>
                <a:cs typeface="Helvetica Neue"/>
              </a:rPr>
              <a:t>avg. position</a:t>
            </a:r>
          </a:p>
        </p:txBody>
      </p:sp>
      <p:sp>
        <p:nvSpPr>
          <p:cNvPr id="17" name="">
            <a:extLst xmlns:a="http://schemas.openxmlformats.org/drawingml/2006/main">
              <a:ext uri="{FF2B5EF4-FFF2-40B4-BE49-F238E27FC236}">
                <a16:creationId xmlns:a16="http://schemas.microsoft.com/office/drawing/2014/main" id="{5B009359-274B-4981-9D79-DCF9E9646012}"/>
              </a:ext>
            </a:extLst>
          </p:cNvPr>
          <p:cNvSpPr>
            <a:spLocks xmlns:a="http://schemas.openxmlformats.org/drawingml/2006/main" noGrp="1"/>
          </p:cNvSpPr>
          <p:nvPr/>
        </p:nvSpPr>
        <p:spPr>
          <a:xfrm xmlns:a="http://schemas.openxmlformats.org/drawingml/2006/main">
            <a:off x="400050" y="3638550"/>
            <a:ext cx="113919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CE5E0"/>
            </a:solidFill>
            <a:prstDash val="solid"/>
          </a:ln>
        </p:spPr>
      </p:sp>
      <p:sp>
        <p:nvSpPr>
          <p:cNvPr id="18" name="">
            <a:extLst xmlns:a="http://schemas.openxmlformats.org/drawingml/2006/main">
              <a:ext uri="{FF2B5EF4-FFF2-40B4-BE49-F238E27FC236}">
                <a16:creationId xmlns:a16="http://schemas.microsoft.com/office/drawing/2014/main" id="{A0A5CB4A-1E51-4D93-8177-B4329DDC9117}"/>
              </a:ext>
            </a:extLst>
          </p:cNvPr>
          <p:cNvSpPr>
            <a:spLocks xmlns:a="http://schemas.openxmlformats.org/drawingml/2006/main" noGrp="1"/>
          </p:cNvSpPr>
          <p:nvPr/>
        </p:nvSpPr>
        <p:spPr>
          <a:xfrm xmlns:a="http://schemas.openxmlformats.org/drawingml/2006/main">
            <a:off x="685800" y="39052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A18"/>
                </a:solidFill>
                <a:latin typeface="Helvetica Neue"/>
                <a:ea typeface="Helvetica Neue"/>
                <a:cs typeface="Helvetica Neue"/>
              </a:defRPr>
            </a:pPr>
            <a:r>
              <a:rPr sz="1875" b="1">
                <a:solidFill>
                  <a:srgbClr val="101A18"/>
                </a:solidFill>
                <a:latin typeface="Helvetica Neue"/>
                <a:ea typeface="Helvetica Neue"/>
                <a:cs typeface="Helvetica Neue"/>
              </a:rPr>
              <a:t>Visibility accelerated in late April</a:t>
            </a:r>
          </a:p>
        </p:txBody>
      </p:sp>
      <p:sp>
        <p:nvSpPr>
          <p:cNvPr id="19" name="">
            <a:extLst xmlns:a="http://schemas.openxmlformats.org/drawingml/2006/main">
              <a:ext uri="{FF2B5EF4-FFF2-40B4-BE49-F238E27FC236}">
                <a16:creationId xmlns:a16="http://schemas.microsoft.com/office/drawing/2014/main" id="{C7603B7D-0FAF-44ED-ADC3-96EDC5F68FA6}"/>
              </a:ext>
            </a:extLst>
          </p:cNvPr>
          <p:cNvSpPr>
            <a:spLocks xmlns:a="http://schemas.openxmlformats.org/drawingml/2006/main" noGrp="1"/>
          </p:cNvSpPr>
          <p:nvPr/>
        </p:nvSpPr>
        <p:spPr>
          <a:xfrm xmlns:a="http://schemas.openxmlformats.org/drawingml/2006/main">
            <a:off x="685800" y="4362450"/>
            <a:ext cx="528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C6965"/>
                </a:solidFill>
                <a:latin typeface="Helvetica Neue"/>
                <a:ea typeface="Helvetica Neue"/>
                <a:cs typeface="Helvetica Neue"/>
              </a:defRPr>
            </a:pPr>
            <a:r>
              <a:rPr sz="1350" b="0">
                <a:solidFill>
                  <a:srgbClr val="5C6965"/>
                </a:solidFill>
                <a:latin typeface="Helvetica Neue"/>
                <a:ea typeface="Helvetica Neue"/>
                <a:cs typeface="Helvetica Neue"/>
              </a:rPr>
              <a:t>Weekly impressions rose from 58 in the first exported week to 790 in the week beginning Apr 28. The final 30 days delivered 65 clicks versus 12 in the first 30 days.</a:t>
            </a:r>
          </a:p>
        </p:txBody>
      </p:sp>
      <p:graphicFrame>
        <p:nvGraphicFramePr>
          <p:cNvPr id="41" name="Chart"/>
          <p:cNvGraphicFramePr/>
          <p:nvPr/>
        </p:nvGraphicFramePr>
        <p:xfrm>
          <a:off xmlns:a="http://schemas.openxmlformats.org/drawingml/2006/main" x="6524625" y="3857625"/>
          <a:ext xmlns:a="http://schemas.openxmlformats.org/drawingml/2006/main" cx="4476750" cy="1285875"/>
        </p:xfrm>
        <a:graphic xmlns:a="http://schemas.openxmlformats.org/drawingml/2006/main">
          <a:graphicData uri="http://schemas.openxmlformats.org/drawingml/2006/chart">
            <c:chart xmlns:r="http://schemas.openxmlformats.org/officeDocument/2006/relationships" xmlns:c="http://schemas.openxmlformats.org/drawingml/2006/chart" r:id="Rbfe54b948bb94816"/>
          </a:graphicData>
        </a:graphic>
      </p:graphicFrame>
      <p:sp>
        <p:nvSpPr>
          <p:cNvPr id="21" name="">
            <a:extLst xmlns:a="http://schemas.openxmlformats.org/drawingml/2006/main">
              <a:ext uri="{FF2B5EF4-FFF2-40B4-BE49-F238E27FC236}">
                <a16:creationId xmlns:a16="http://schemas.microsoft.com/office/drawing/2014/main" id="{0E325428-6E79-4205-8995-B89B038F0F4A}"/>
              </a:ext>
            </a:extLst>
          </p:cNvPr>
          <p:cNvSpPr>
            <a:spLocks xmlns:a="http://schemas.openxmlformats.org/drawingml/2006/main" noGrp="1"/>
          </p:cNvSpPr>
          <p:nvPr/>
        </p:nvSpPr>
        <p:spPr>
          <a:xfrm xmlns:a="http://schemas.openxmlformats.org/drawingml/2006/main">
            <a:off x="400050" y="6429375"/>
            <a:ext cx="885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C6965"/>
                </a:solidFill>
                <a:latin typeface="Helvetica Neue"/>
                <a:ea typeface="Helvetica Neue"/>
                <a:cs typeface="Helvetica Neue"/>
              </a:defRPr>
            </a:pPr>
            <a:r>
              <a:rPr sz="750" b="0">
                <a:solidFill>
                  <a:srgbClr val="5C6965"/>
                </a:solidFill>
                <a:latin typeface="Helvetica Neue"/>
                <a:ea typeface="Helvetica Neue"/>
                <a:cs typeface="Helvetica Neue"/>
              </a:rPr>
              <a:t>Source: Calkilo Google Search Console SEO Analysis (exported May 6, 2026).</a:t>
            </a:r>
          </a:p>
        </p:txBody>
      </p:sp>
    </p:spTree>
    <p:extLst>
      <p:ext uri="{BB962C8B-B14F-4D97-AF65-F5344CB8AC3E}">
        <p14:creationId xmlns:p14="http://schemas.microsoft.com/office/powerpoint/2010/main" val="16422669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144291-71B4-40BB-BA11-248A304FF128}"/>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2A56B"/>
                </a:solidFill>
                <a:latin typeface="Helvetica Neue"/>
                <a:ea typeface="Helvetica Neue"/>
                <a:cs typeface="Helvetica Neue"/>
              </a:defRPr>
            </a:pPr>
            <a:r>
              <a:rPr sz="900" b="1">
                <a:solidFill>
                  <a:srgbClr val="22A56B"/>
                </a:solidFill>
                <a:latin typeface="Helvetica Neue"/>
                <a:ea typeface="Helvetica Neue"/>
                <a:cs typeface="Helvetica Neue"/>
              </a:rPr>
              <a:t>CALKILO | INVESTOR DECK</a:t>
            </a:r>
          </a:p>
        </p:txBody>
      </p:sp>
      <p:sp>
        <p:nvSpPr>
          <p:cNvPr id="2" name="">
            <a:extLst xmlns:a="http://schemas.openxmlformats.org/drawingml/2006/main">
              <a:ext uri="{FF2B5EF4-FFF2-40B4-BE49-F238E27FC236}">
                <a16:creationId xmlns:a16="http://schemas.microsoft.com/office/drawing/2014/main" id="{EC4D838C-9FCB-4495-8CD7-5D702963ED67}"/>
              </a:ext>
            </a:extLst>
          </p:cNvPr>
          <p:cNvSpPr>
            <a:spLocks xmlns:a="http://schemas.openxmlformats.org/drawingml/2006/main" noGrp="1"/>
          </p:cNvSpPr>
          <p:nvPr/>
        </p:nvSpPr>
        <p:spPr>
          <a:xfrm xmlns:a="http://schemas.openxmlformats.org/drawingml/2006/main">
            <a:off x="4000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01A18"/>
                </a:solidFill>
                <a:latin typeface="Helvetica Neue"/>
                <a:ea typeface="Helvetica Neue"/>
                <a:cs typeface="Helvetica Neue"/>
              </a:defRPr>
            </a:pPr>
            <a:r>
              <a:rPr sz="3000" b="1">
                <a:solidFill>
                  <a:srgbClr val="101A18"/>
                </a:solidFill>
                <a:latin typeface="Helvetica Neue"/>
                <a:ea typeface="Helvetica Neue"/>
                <a:cs typeface="Helvetica Neue"/>
              </a:rPr>
              <a:t>Persian search demand is the clearest initial beachhead.</a:t>
            </a:r>
          </a:p>
        </p:txBody>
      </p:sp>
      <p:sp>
        <p:nvSpPr>
          <p:cNvPr id="3" name="">
            <a:extLst xmlns:a="http://schemas.openxmlformats.org/drawingml/2006/main">
              <a:ext uri="{FF2B5EF4-FFF2-40B4-BE49-F238E27FC236}">
                <a16:creationId xmlns:a16="http://schemas.microsoft.com/office/drawing/2014/main" id="{CAF3FFDB-2400-4D72-BE1D-18A8373AC29A}"/>
              </a:ext>
            </a:extLst>
          </p:cNvPr>
          <p:cNvSpPr>
            <a:spLocks xmlns:a="http://schemas.openxmlformats.org/drawingml/2006/main" noGrp="1"/>
          </p:cNvSpPr>
          <p:nvPr/>
        </p:nvSpPr>
        <p:spPr>
          <a:xfrm xmlns:a="http://schemas.openxmlformats.org/drawingml/2006/main">
            <a:off x="11239500" y="63817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C6965"/>
                </a:solidFill>
                <a:latin typeface="Helvetica Neue"/>
                <a:ea typeface="Helvetica Neue"/>
                <a:cs typeface="Helvetica Neue"/>
              </a:defRPr>
            </a:pPr>
            <a:r>
              <a:rPr sz="900" b="0">
                <a:solidFill>
                  <a:srgbClr val="5C6965"/>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39AEEC30-4D32-4299-8441-E0CDB5F452A6}"/>
              </a:ext>
            </a:extLst>
          </p:cNvPr>
          <p:cNvSpPr>
            <a:spLocks xmlns:a="http://schemas.openxmlformats.org/drawingml/2006/main" noGrp="1"/>
          </p:cNvSpPr>
          <p:nvPr/>
        </p:nvSpPr>
        <p:spPr>
          <a:xfrm xmlns:a="http://schemas.openxmlformats.org/drawingml/2006/main">
            <a:off x="400050" y="1571625"/>
            <a:ext cx="11391900" cy="457200"/>
          </a:xfrm>
          <a:prstGeom xmlns:a="http://schemas.openxmlformats.org/drawingml/2006/main" prst="rect">
            <a:avLst/>
          </a:prstGeom>
          <a:solidFill xmlns:a="http://schemas.openxmlformats.org/drawingml/2006/main">
            <a:srgbClr val="101A1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625A15F-71D5-4C9F-A6CE-1D6845656A8D}"/>
              </a:ext>
            </a:extLst>
          </p:cNvPr>
          <p:cNvSpPr>
            <a:spLocks xmlns:a="http://schemas.openxmlformats.org/drawingml/2006/main" noGrp="1"/>
          </p:cNvSpPr>
          <p:nvPr/>
        </p:nvSpPr>
        <p:spPr>
          <a:xfrm xmlns:a="http://schemas.openxmlformats.org/drawingml/2006/main">
            <a:off x="609600" y="17049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Market</a:t>
            </a:r>
          </a:p>
        </p:txBody>
      </p:sp>
      <p:sp>
        <p:nvSpPr>
          <p:cNvPr id="6" name="">
            <a:extLst xmlns:a="http://schemas.openxmlformats.org/drawingml/2006/main">
              <a:ext uri="{FF2B5EF4-FFF2-40B4-BE49-F238E27FC236}">
                <a16:creationId xmlns:a16="http://schemas.microsoft.com/office/drawing/2014/main" id="{916E4157-B772-4FB2-BAD7-F219EF5D58B4}"/>
              </a:ext>
            </a:extLst>
          </p:cNvPr>
          <p:cNvSpPr>
            <a:spLocks xmlns:a="http://schemas.openxmlformats.org/drawingml/2006/main" noGrp="1"/>
          </p:cNvSpPr>
          <p:nvPr/>
        </p:nvSpPr>
        <p:spPr>
          <a:xfrm xmlns:a="http://schemas.openxmlformats.org/drawingml/2006/main">
            <a:off x="3276600" y="17049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Clicks</a:t>
            </a:r>
          </a:p>
        </p:txBody>
      </p:sp>
      <p:sp>
        <p:nvSpPr>
          <p:cNvPr id="7" name="">
            <a:extLst xmlns:a="http://schemas.openxmlformats.org/drawingml/2006/main">
              <a:ext uri="{FF2B5EF4-FFF2-40B4-BE49-F238E27FC236}">
                <a16:creationId xmlns:a16="http://schemas.microsoft.com/office/drawing/2014/main" id="{DFC08281-31D2-4ECE-A5A5-DCD9A3DB320D}"/>
              </a:ext>
            </a:extLst>
          </p:cNvPr>
          <p:cNvSpPr>
            <a:spLocks xmlns:a="http://schemas.openxmlformats.org/drawingml/2006/main" noGrp="1"/>
          </p:cNvSpPr>
          <p:nvPr/>
        </p:nvSpPr>
        <p:spPr>
          <a:xfrm xmlns:a="http://schemas.openxmlformats.org/drawingml/2006/main">
            <a:off x="5276850" y="17049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Impressions</a:t>
            </a:r>
          </a:p>
        </p:txBody>
      </p:sp>
      <p:sp>
        <p:nvSpPr>
          <p:cNvPr id="8" name="">
            <a:extLst xmlns:a="http://schemas.openxmlformats.org/drawingml/2006/main">
              <a:ext uri="{FF2B5EF4-FFF2-40B4-BE49-F238E27FC236}">
                <a16:creationId xmlns:a16="http://schemas.microsoft.com/office/drawing/2014/main" id="{4E0D4A13-2FED-4A0C-A93F-5AF904343CA8}"/>
              </a:ext>
            </a:extLst>
          </p:cNvPr>
          <p:cNvSpPr>
            <a:spLocks xmlns:a="http://schemas.openxmlformats.org/drawingml/2006/main" noGrp="1"/>
          </p:cNvSpPr>
          <p:nvPr/>
        </p:nvSpPr>
        <p:spPr>
          <a:xfrm xmlns:a="http://schemas.openxmlformats.org/drawingml/2006/main">
            <a:off x="7848600" y="17049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CTR</a:t>
            </a:r>
          </a:p>
        </p:txBody>
      </p:sp>
      <p:sp>
        <p:nvSpPr>
          <p:cNvPr id="9" name="">
            <a:extLst xmlns:a="http://schemas.openxmlformats.org/drawingml/2006/main">
              <a:ext uri="{FF2B5EF4-FFF2-40B4-BE49-F238E27FC236}">
                <a16:creationId xmlns:a16="http://schemas.microsoft.com/office/drawing/2014/main" id="{2BA6689F-DD9E-44FD-ADE0-CBEAF5F7F001}"/>
              </a:ext>
            </a:extLst>
          </p:cNvPr>
          <p:cNvSpPr>
            <a:spLocks xmlns:a="http://schemas.openxmlformats.org/drawingml/2006/main" noGrp="1"/>
          </p:cNvSpPr>
          <p:nvPr/>
        </p:nvSpPr>
        <p:spPr>
          <a:xfrm xmlns:a="http://schemas.openxmlformats.org/drawingml/2006/main">
            <a:off x="9753600" y="17049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Position</a:t>
            </a:r>
          </a:p>
        </p:txBody>
      </p:sp>
      <p:sp>
        <p:nvSpPr>
          <p:cNvPr id="10" name="">
            <a:extLst xmlns:a="http://schemas.openxmlformats.org/drawingml/2006/main">
              <a:ext uri="{FF2B5EF4-FFF2-40B4-BE49-F238E27FC236}">
                <a16:creationId xmlns:a16="http://schemas.microsoft.com/office/drawing/2014/main" id="{17148F26-70DC-4C5D-A99B-5033AA7B61D8}"/>
              </a:ext>
            </a:extLst>
          </p:cNvPr>
          <p:cNvSpPr>
            <a:spLocks xmlns:a="http://schemas.openxmlformats.org/drawingml/2006/main" noGrp="1"/>
          </p:cNvSpPr>
          <p:nvPr/>
        </p:nvSpPr>
        <p:spPr>
          <a:xfrm xmlns:a="http://schemas.openxmlformats.org/drawingml/2006/main">
            <a:off x="400050" y="2028825"/>
            <a:ext cx="11391900" cy="857250"/>
          </a:xfrm>
          <a:prstGeom xmlns:a="http://schemas.openxmlformats.org/drawingml/2006/main" prst="rect">
            <a:avLst/>
          </a:prstGeom>
          <a:solidFill xmlns:a="http://schemas.openxmlformats.org/drawingml/2006/main">
            <a:srgbClr val="E8F7EF"/>
          </a:solidFill>
          <a:ln xmlns:a="http://schemas.openxmlformats.org/drawingml/2006/main" w="9525">
            <a:solidFill>
              <a:srgbClr val="DCE5E0"/>
            </a:solidFill>
            <a:prstDash val="solid"/>
          </a:ln>
        </p:spPr>
      </p:sp>
      <p:sp>
        <p:nvSpPr>
          <p:cNvPr id="11" name="">
            <a:extLst xmlns:a="http://schemas.openxmlformats.org/drawingml/2006/main">
              <a:ext uri="{FF2B5EF4-FFF2-40B4-BE49-F238E27FC236}">
                <a16:creationId xmlns:a16="http://schemas.microsoft.com/office/drawing/2014/main" id="{60A26BAE-4CD7-4CAE-BBE5-62CA7BF6C143}"/>
              </a:ext>
            </a:extLst>
          </p:cNvPr>
          <p:cNvSpPr>
            <a:spLocks xmlns:a="http://schemas.openxmlformats.org/drawingml/2006/main" noGrp="1"/>
          </p:cNvSpPr>
          <p:nvPr/>
        </p:nvSpPr>
        <p:spPr>
          <a:xfrm xmlns:a="http://schemas.openxmlformats.org/drawingml/2006/main">
            <a:off x="609600" y="23145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A18"/>
                </a:solidFill>
                <a:latin typeface="Helvetica Neue"/>
                <a:ea typeface="Helvetica Neue"/>
                <a:cs typeface="Helvetica Neue"/>
              </a:defRPr>
            </a:pPr>
            <a:r>
              <a:rPr sz="1500" b="1">
                <a:solidFill>
                  <a:srgbClr val="101A18"/>
                </a:solidFill>
                <a:latin typeface="Helvetica Neue"/>
                <a:ea typeface="Helvetica Neue"/>
                <a:cs typeface="Helvetica Neue"/>
              </a:rPr>
              <a:t>Iran</a:t>
            </a:r>
          </a:p>
        </p:txBody>
      </p:sp>
      <p:sp>
        <p:nvSpPr>
          <p:cNvPr id="12" name="">
            <a:extLst xmlns:a="http://schemas.openxmlformats.org/drawingml/2006/main">
              <a:ext uri="{FF2B5EF4-FFF2-40B4-BE49-F238E27FC236}">
                <a16:creationId xmlns:a16="http://schemas.microsoft.com/office/drawing/2014/main" id="{F1375BE1-D4E4-45B2-B75D-1FA880609474}"/>
              </a:ext>
            </a:extLst>
          </p:cNvPr>
          <p:cNvSpPr>
            <a:spLocks xmlns:a="http://schemas.openxmlformats.org/drawingml/2006/main" noGrp="1"/>
          </p:cNvSpPr>
          <p:nvPr/>
        </p:nvSpPr>
        <p:spPr>
          <a:xfrm xmlns:a="http://schemas.openxmlformats.org/drawingml/2006/main">
            <a:off x="3276600" y="23145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C6965"/>
                </a:solidFill>
                <a:latin typeface="Helvetica Neue"/>
                <a:ea typeface="Helvetica Neue"/>
                <a:cs typeface="Helvetica Neue"/>
              </a:defRPr>
            </a:pPr>
            <a:r>
              <a:rPr sz="1500" b="0">
                <a:solidFill>
                  <a:srgbClr val="5C6965"/>
                </a:solidFill>
                <a:latin typeface="Helvetica Neue"/>
                <a:ea typeface="Helvetica Neue"/>
                <a:cs typeface="Helvetica Neue"/>
              </a:rPr>
              <a:t>54 clicks</a:t>
            </a:r>
          </a:p>
        </p:txBody>
      </p:sp>
      <p:sp>
        <p:nvSpPr>
          <p:cNvPr id="13" name="">
            <a:extLst xmlns:a="http://schemas.openxmlformats.org/drawingml/2006/main">
              <a:ext uri="{FF2B5EF4-FFF2-40B4-BE49-F238E27FC236}">
                <a16:creationId xmlns:a16="http://schemas.microsoft.com/office/drawing/2014/main" id="{701FC01D-5198-45DE-BE8D-BAEEBDE556B7}"/>
              </a:ext>
            </a:extLst>
          </p:cNvPr>
          <p:cNvSpPr>
            <a:spLocks xmlns:a="http://schemas.openxmlformats.org/drawingml/2006/main" noGrp="1"/>
          </p:cNvSpPr>
          <p:nvPr/>
        </p:nvSpPr>
        <p:spPr>
          <a:xfrm xmlns:a="http://schemas.openxmlformats.org/drawingml/2006/main">
            <a:off x="5276850" y="23145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C6965"/>
                </a:solidFill>
                <a:latin typeface="Helvetica Neue"/>
                <a:ea typeface="Helvetica Neue"/>
                <a:cs typeface="Helvetica Neue"/>
              </a:defRPr>
            </a:pPr>
            <a:r>
              <a:rPr sz="1500" b="0">
                <a:solidFill>
                  <a:srgbClr val="5C6965"/>
                </a:solidFill>
                <a:latin typeface="Helvetica Neue"/>
                <a:ea typeface="Helvetica Neue"/>
                <a:cs typeface="Helvetica Neue"/>
              </a:rPr>
              <a:t>864 impressions</a:t>
            </a:r>
          </a:p>
        </p:txBody>
      </p:sp>
      <p:sp>
        <p:nvSpPr>
          <p:cNvPr id="14" name="">
            <a:extLst xmlns:a="http://schemas.openxmlformats.org/drawingml/2006/main">
              <a:ext uri="{FF2B5EF4-FFF2-40B4-BE49-F238E27FC236}">
                <a16:creationId xmlns:a16="http://schemas.microsoft.com/office/drawing/2014/main" id="{2A024FF1-A6F4-4025-A85F-5C0CA8CD5F0F}"/>
              </a:ext>
            </a:extLst>
          </p:cNvPr>
          <p:cNvSpPr>
            <a:spLocks xmlns:a="http://schemas.openxmlformats.org/drawingml/2006/main" noGrp="1"/>
          </p:cNvSpPr>
          <p:nvPr/>
        </p:nvSpPr>
        <p:spPr>
          <a:xfrm xmlns:a="http://schemas.openxmlformats.org/drawingml/2006/main">
            <a:off x="7848600" y="23145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C6965"/>
                </a:solidFill>
                <a:latin typeface="Helvetica Neue"/>
                <a:ea typeface="Helvetica Neue"/>
                <a:cs typeface="Helvetica Neue"/>
              </a:defRPr>
            </a:pPr>
            <a:r>
              <a:rPr sz="1500" b="0">
                <a:solidFill>
                  <a:srgbClr val="5C6965"/>
                </a:solidFill>
                <a:latin typeface="Helvetica Neue"/>
                <a:ea typeface="Helvetica Neue"/>
                <a:cs typeface="Helvetica Neue"/>
              </a:rPr>
              <a:t>6.25% CTR</a:t>
            </a:r>
          </a:p>
        </p:txBody>
      </p:sp>
      <p:sp>
        <p:nvSpPr>
          <p:cNvPr id="15" name="">
            <a:extLst xmlns:a="http://schemas.openxmlformats.org/drawingml/2006/main">
              <a:ext uri="{FF2B5EF4-FFF2-40B4-BE49-F238E27FC236}">
                <a16:creationId xmlns:a16="http://schemas.microsoft.com/office/drawing/2014/main" id="{4DB6E086-E544-4003-87E5-D9647DDD5FF4}"/>
              </a:ext>
            </a:extLst>
          </p:cNvPr>
          <p:cNvSpPr>
            <a:spLocks xmlns:a="http://schemas.openxmlformats.org/drawingml/2006/main" noGrp="1"/>
          </p:cNvSpPr>
          <p:nvPr/>
        </p:nvSpPr>
        <p:spPr>
          <a:xfrm xmlns:a="http://schemas.openxmlformats.org/drawingml/2006/main">
            <a:off x="9753600" y="23145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C6965"/>
                </a:solidFill>
                <a:latin typeface="Helvetica Neue"/>
                <a:ea typeface="Helvetica Neue"/>
                <a:cs typeface="Helvetica Neue"/>
              </a:defRPr>
            </a:pPr>
            <a:r>
              <a:rPr sz="1500" b="0">
                <a:solidFill>
                  <a:srgbClr val="5C6965"/>
                </a:solidFill>
                <a:latin typeface="Helvetica Neue"/>
                <a:ea typeface="Helvetica Neue"/>
                <a:cs typeface="Helvetica Neue"/>
              </a:rPr>
              <a:t>7.36 avg. position</a:t>
            </a:r>
          </a:p>
        </p:txBody>
      </p:sp>
      <p:sp>
        <p:nvSpPr>
          <p:cNvPr id="16" name="">
            <a:extLst xmlns:a="http://schemas.openxmlformats.org/drawingml/2006/main">
              <a:ext uri="{FF2B5EF4-FFF2-40B4-BE49-F238E27FC236}">
                <a16:creationId xmlns:a16="http://schemas.microsoft.com/office/drawing/2014/main" id="{FA635A16-12C7-4E9E-9117-CBA7F4750E8C}"/>
              </a:ext>
            </a:extLst>
          </p:cNvPr>
          <p:cNvSpPr>
            <a:spLocks xmlns:a="http://schemas.openxmlformats.org/drawingml/2006/main" noGrp="1"/>
          </p:cNvSpPr>
          <p:nvPr/>
        </p:nvSpPr>
        <p:spPr>
          <a:xfrm xmlns:a="http://schemas.openxmlformats.org/drawingml/2006/main">
            <a:off x="400050" y="2886075"/>
            <a:ext cx="113919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0"/>
            </a:solidFill>
            <a:prstDash val="solid"/>
          </a:ln>
        </p:spPr>
      </p:sp>
      <p:sp>
        <p:nvSpPr>
          <p:cNvPr id="17" name="">
            <a:extLst xmlns:a="http://schemas.openxmlformats.org/drawingml/2006/main">
              <a:ext uri="{FF2B5EF4-FFF2-40B4-BE49-F238E27FC236}">
                <a16:creationId xmlns:a16="http://schemas.microsoft.com/office/drawing/2014/main" id="{0993072D-3A86-482E-B8A6-AFB3CCD116C8}"/>
              </a:ext>
            </a:extLst>
          </p:cNvPr>
          <p:cNvSpPr>
            <a:spLocks xmlns:a="http://schemas.openxmlformats.org/drawingml/2006/main" noGrp="1"/>
          </p:cNvSpPr>
          <p:nvPr/>
        </p:nvSpPr>
        <p:spPr>
          <a:xfrm xmlns:a="http://schemas.openxmlformats.org/drawingml/2006/main">
            <a:off x="609600" y="31718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A18"/>
                </a:solidFill>
                <a:latin typeface="Helvetica Neue"/>
                <a:ea typeface="Helvetica Neue"/>
                <a:cs typeface="Helvetica Neue"/>
              </a:defRPr>
            </a:pPr>
            <a:r>
              <a:rPr sz="1500" b="1">
                <a:solidFill>
                  <a:srgbClr val="101A18"/>
                </a:solidFill>
                <a:latin typeface="Helvetica Neue"/>
                <a:ea typeface="Helvetica Neue"/>
                <a:cs typeface="Helvetica Neue"/>
              </a:rPr>
              <a:t>United States</a:t>
            </a:r>
          </a:p>
        </p:txBody>
      </p:sp>
      <p:sp>
        <p:nvSpPr>
          <p:cNvPr id="18" name="">
            <a:extLst xmlns:a="http://schemas.openxmlformats.org/drawingml/2006/main">
              <a:ext uri="{FF2B5EF4-FFF2-40B4-BE49-F238E27FC236}">
                <a16:creationId xmlns:a16="http://schemas.microsoft.com/office/drawing/2014/main" id="{57D77281-BC40-40A5-AE39-AC14501C90C7}"/>
              </a:ext>
            </a:extLst>
          </p:cNvPr>
          <p:cNvSpPr>
            <a:spLocks xmlns:a="http://schemas.openxmlformats.org/drawingml/2006/main" noGrp="1"/>
          </p:cNvSpPr>
          <p:nvPr/>
        </p:nvSpPr>
        <p:spPr>
          <a:xfrm xmlns:a="http://schemas.openxmlformats.org/drawingml/2006/main">
            <a:off x="3276600" y="31718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C6965"/>
                </a:solidFill>
                <a:latin typeface="Helvetica Neue"/>
                <a:ea typeface="Helvetica Neue"/>
                <a:cs typeface="Helvetica Neue"/>
              </a:defRPr>
            </a:pPr>
            <a:r>
              <a:rPr sz="1500" b="0">
                <a:solidFill>
                  <a:srgbClr val="5C6965"/>
                </a:solidFill>
                <a:latin typeface="Helvetica Neue"/>
                <a:ea typeface="Helvetica Neue"/>
                <a:cs typeface="Helvetica Neue"/>
              </a:rPr>
              <a:t>2 clicks</a:t>
            </a:r>
          </a:p>
        </p:txBody>
      </p:sp>
      <p:sp>
        <p:nvSpPr>
          <p:cNvPr id="19" name="">
            <a:extLst xmlns:a="http://schemas.openxmlformats.org/drawingml/2006/main">
              <a:ext uri="{FF2B5EF4-FFF2-40B4-BE49-F238E27FC236}">
                <a16:creationId xmlns:a16="http://schemas.microsoft.com/office/drawing/2014/main" id="{E75C562F-310A-4A30-9774-BC197E9CF945}"/>
              </a:ext>
            </a:extLst>
          </p:cNvPr>
          <p:cNvSpPr>
            <a:spLocks xmlns:a="http://schemas.openxmlformats.org/drawingml/2006/main" noGrp="1"/>
          </p:cNvSpPr>
          <p:nvPr/>
        </p:nvSpPr>
        <p:spPr>
          <a:xfrm xmlns:a="http://schemas.openxmlformats.org/drawingml/2006/main">
            <a:off x="5276850" y="31718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C6965"/>
                </a:solidFill>
                <a:latin typeface="Helvetica Neue"/>
                <a:ea typeface="Helvetica Neue"/>
                <a:cs typeface="Helvetica Neue"/>
              </a:defRPr>
            </a:pPr>
            <a:r>
              <a:rPr sz="1500" b="0">
                <a:solidFill>
                  <a:srgbClr val="5C6965"/>
                </a:solidFill>
                <a:latin typeface="Helvetica Neue"/>
                <a:ea typeface="Helvetica Neue"/>
                <a:cs typeface="Helvetica Neue"/>
              </a:rPr>
              <a:t>458 impressions</a:t>
            </a:r>
          </a:p>
        </p:txBody>
      </p:sp>
      <p:sp>
        <p:nvSpPr>
          <p:cNvPr id="20" name="">
            <a:extLst xmlns:a="http://schemas.openxmlformats.org/drawingml/2006/main">
              <a:ext uri="{FF2B5EF4-FFF2-40B4-BE49-F238E27FC236}">
                <a16:creationId xmlns:a16="http://schemas.microsoft.com/office/drawing/2014/main" id="{5D545D79-4B93-4633-8347-9E7F588924E6}"/>
              </a:ext>
            </a:extLst>
          </p:cNvPr>
          <p:cNvSpPr>
            <a:spLocks xmlns:a="http://schemas.openxmlformats.org/drawingml/2006/main" noGrp="1"/>
          </p:cNvSpPr>
          <p:nvPr/>
        </p:nvSpPr>
        <p:spPr>
          <a:xfrm xmlns:a="http://schemas.openxmlformats.org/drawingml/2006/main">
            <a:off x="7848600" y="31718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C6965"/>
                </a:solidFill>
                <a:latin typeface="Helvetica Neue"/>
                <a:ea typeface="Helvetica Neue"/>
                <a:cs typeface="Helvetica Neue"/>
              </a:defRPr>
            </a:pPr>
            <a:r>
              <a:rPr sz="1500" b="0">
                <a:solidFill>
                  <a:srgbClr val="5C6965"/>
                </a:solidFill>
                <a:latin typeface="Helvetica Neue"/>
                <a:ea typeface="Helvetica Neue"/>
                <a:cs typeface="Helvetica Neue"/>
              </a:rPr>
              <a:t>0.44% CTR</a:t>
            </a:r>
          </a:p>
        </p:txBody>
      </p:sp>
      <p:sp>
        <p:nvSpPr>
          <p:cNvPr id="21" name="">
            <a:extLst xmlns:a="http://schemas.openxmlformats.org/drawingml/2006/main">
              <a:ext uri="{FF2B5EF4-FFF2-40B4-BE49-F238E27FC236}">
                <a16:creationId xmlns:a16="http://schemas.microsoft.com/office/drawing/2014/main" id="{DCF4411F-E06D-475A-951D-F2F30C6EE62E}"/>
              </a:ext>
            </a:extLst>
          </p:cNvPr>
          <p:cNvSpPr>
            <a:spLocks xmlns:a="http://schemas.openxmlformats.org/drawingml/2006/main" noGrp="1"/>
          </p:cNvSpPr>
          <p:nvPr/>
        </p:nvSpPr>
        <p:spPr>
          <a:xfrm xmlns:a="http://schemas.openxmlformats.org/drawingml/2006/main">
            <a:off x="9753600" y="31718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C6965"/>
                </a:solidFill>
                <a:latin typeface="Helvetica Neue"/>
                <a:ea typeface="Helvetica Neue"/>
                <a:cs typeface="Helvetica Neue"/>
              </a:defRPr>
            </a:pPr>
            <a:r>
              <a:rPr sz="1500" b="0">
                <a:solidFill>
                  <a:srgbClr val="5C6965"/>
                </a:solidFill>
                <a:latin typeface="Helvetica Neue"/>
                <a:ea typeface="Helvetica Neue"/>
                <a:cs typeface="Helvetica Neue"/>
              </a:rPr>
              <a:t>7.80 avg. position</a:t>
            </a:r>
          </a:p>
        </p:txBody>
      </p:sp>
      <p:sp>
        <p:nvSpPr>
          <p:cNvPr id="22" name="">
            <a:extLst xmlns:a="http://schemas.openxmlformats.org/drawingml/2006/main">
              <a:ext uri="{FF2B5EF4-FFF2-40B4-BE49-F238E27FC236}">
                <a16:creationId xmlns:a16="http://schemas.microsoft.com/office/drawing/2014/main" id="{03330D6B-863B-45E1-AE2A-BFEBC5FAD74E}"/>
              </a:ext>
            </a:extLst>
          </p:cNvPr>
          <p:cNvSpPr>
            <a:spLocks xmlns:a="http://schemas.openxmlformats.org/drawingml/2006/main" noGrp="1"/>
          </p:cNvSpPr>
          <p:nvPr/>
        </p:nvSpPr>
        <p:spPr>
          <a:xfrm xmlns:a="http://schemas.openxmlformats.org/drawingml/2006/main">
            <a:off x="400050" y="3743325"/>
            <a:ext cx="113919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0"/>
            </a:solidFill>
            <a:prstDash val="solid"/>
          </a:ln>
        </p:spPr>
      </p:sp>
      <p:sp>
        <p:nvSpPr>
          <p:cNvPr id="23" name="">
            <a:extLst xmlns:a="http://schemas.openxmlformats.org/drawingml/2006/main">
              <a:ext uri="{FF2B5EF4-FFF2-40B4-BE49-F238E27FC236}">
                <a16:creationId xmlns:a16="http://schemas.microsoft.com/office/drawing/2014/main" id="{6537B368-6CDA-40F6-B05C-F21C82DE0BCE}"/>
              </a:ext>
            </a:extLst>
          </p:cNvPr>
          <p:cNvSpPr>
            <a:spLocks xmlns:a="http://schemas.openxmlformats.org/drawingml/2006/main" noGrp="1"/>
          </p:cNvSpPr>
          <p:nvPr/>
        </p:nvSpPr>
        <p:spPr>
          <a:xfrm xmlns:a="http://schemas.openxmlformats.org/drawingml/2006/main">
            <a:off x="609600" y="40290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A18"/>
                </a:solidFill>
                <a:latin typeface="Helvetica Neue"/>
                <a:ea typeface="Helvetica Neue"/>
                <a:cs typeface="Helvetica Neue"/>
              </a:defRPr>
            </a:pPr>
            <a:r>
              <a:rPr sz="1500" b="1">
                <a:solidFill>
                  <a:srgbClr val="101A18"/>
                </a:solidFill>
                <a:latin typeface="Helvetica Neue"/>
                <a:ea typeface="Helvetica Neue"/>
                <a:cs typeface="Helvetica Neue"/>
              </a:rPr>
              <a:t>Italy</a:t>
            </a:r>
          </a:p>
        </p:txBody>
      </p:sp>
      <p:sp>
        <p:nvSpPr>
          <p:cNvPr id="24" name="">
            <a:extLst xmlns:a="http://schemas.openxmlformats.org/drawingml/2006/main">
              <a:ext uri="{FF2B5EF4-FFF2-40B4-BE49-F238E27FC236}">
                <a16:creationId xmlns:a16="http://schemas.microsoft.com/office/drawing/2014/main" id="{12F095CA-076E-478A-934E-FC93DAF76851}"/>
              </a:ext>
            </a:extLst>
          </p:cNvPr>
          <p:cNvSpPr>
            <a:spLocks xmlns:a="http://schemas.openxmlformats.org/drawingml/2006/main" noGrp="1"/>
          </p:cNvSpPr>
          <p:nvPr/>
        </p:nvSpPr>
        <p:spPr>
          <a:xfrm xmlns:a="http://schemas.openxmlformats.org/drawingml/2006/main">
            <a:off x="3276600" y="40290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C6965"/>
                </a:solidFill>
                <a:latin typeface="Helvetica Neue"/>
                <a:ea typeface="Helvetica Neue"/>
                <a:cs typeface="Helvetica Neue"/>
              </a:defRPr>
            </a:pPr>
            <a:r>
              <a:rPr sz="1500" b="0">
                <a:solidFill>
                  <a:srgbClr val="5C6965"/>
                </a:solidFill>
                <a:latin typeface="Helvetica Neue"/>
                <a:ea typeface="Helvetica Neue"/>
                <a:cs typeface="Helvetica Neue"/>
              </a:rPr>
              <a:t>1 click</a:t>
            </a:r>
          </a:p>
        </p:txBody>
      </p:sp>
      <p:sp>
        <p:nvSpPr>
          <p:cNvPr id="25" name="">
            <a:extLst xmlns:a="http://schemas.openxmlformats.org/drawingml/2006/main">
              <a:ext uri="{FF2B5EF4-FFF2-40B4-BE49-F238E27FC236}">
                <a16:creationId xmlns:a16="http://schemas.microsoft.com/office/drawing/2014/main" id="{E53245F5-DE60-4C83-B2D9-F88B11433EB3}"/>
              </a:ext>
            </a:extLst>
          </p:cNvPr>
          <p:cNvSpPr>
            <a:spLocks xmlns:a="http://schemas.openxmlformats.org/drawingml/2006/main" noGrp="1"/>
          </p:cNvSpPr>
          <p:nvPr/>
        </p:nvSpPr>
        <p:spPr>
          <a:xfrm xmlns:a="http://schemas.openxmlformats.org/drawingml/2006/main">
            <a:off x="5276850" y="40290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C6965"/>
                </a:solidFill>
                <a:latin typeface="Helvetica Neue"/>
                <a:ea typeface="Helvetica Neue"/>
                <a:cs typeface="Helvetica Neue"/>
              </a:defRPr>
            </a:pPr>
            <a:r>
              <a:rPr sz="1500" b="0">
                <a:solidFill>
                  <a:srgbClr val="5C6965"/>
                </a:solidFill>
                <a:latin typeface="Helvetica Neue"/>
                <a:ea typeface="Helvetica Neue"/>
                <a:cs typeface="Helvetica Neue"/>
              </a:rPr>
              <a:t>110 impressions</a:t>
            </a:r>
          </a:p>
        </p:txBody>
      </p:sp>
      <p:sp>
        <p:nvSpPr>
          <p:cNvPr id="26" name="">
            <a:extLst xmlns:a="http://schemas.openxmlformats.org/drawingml/2006/main">
              <a:ext uri="{FF2B5EF4-FFF2-40B4-BE49-F238E27FC236}">
                <a16:creationId xmlns:a16="http://schemas.microsoft.com/office/drawing/2014/main" id="{8689FEAD-7D18-44A7-9A61-AFDFE264D662}"/>
              </a:ext>
            </a:extLst>
          </p:cNvPr>
          <p:cNvSpPr>
            <a:spLocks xmlns:a="http://schemas.openxmlformats.org/drawingml/2006/main" noGrp="1"/>
          </p:cNvSpPr>
          <p:nvPr/>
        </p:nvSpPr>
        <p:spPr>
          <a:xfrm xmlns:a="http://schemas.openxmlformats.org/drawingml/2006/main">
            <a:off x="7848600" y="40290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C6965"/>
                </a:solidFill>
                <a:latin typeface="Helvetica Neue"/>
                <a:ea typeface="Helvetica Neue"/>
                <a:cs typeface="Helvetica Neue"/>
              </a:defRPr>
            </a:pPr>
            <a:r>
              <a:rPr sz="1500" b="0">
                <a:solidFill>
                  <a:srgbClr val="5C6965"/>
                </a:solidFill>
                <a:latin typeface="Helvetica Neue"/>
                <a:ea typeface="Helvetica Neue"/>
                <a:cs typeface="Helvetica Neue"/>
              </a:rPr>
              <a:t>0.91% CTR</a:t>
            </a:r>
          </a:p>
        </p:txBody>
      </p:sp>
      <p:sp>
        <p:nvSpPr>
          <p:cNvPr id="27" name="">
            <a:extLst xmlns:a="http://schemas.openxmlformats.org/drawingml/2006/main">
              <a:ext uri="{FF2B5EF4-FFF2-40B4-BE49-F238E27FC236}">
                <a16:creationId xmlns:a16="http://schemas.microsoft.com/office/drawing/2014/main" id="{15A0A081-774C-42F5-8864-E76EDA6AA937}"/>
              </a:ext>
            </a:extLst>
          </p:cNvPr>
          <p:cNvSpPr>
            <a:spLocks xmlns:a="http://schemas.openxmlformats.org/drawingml/2006/main" noGrp="1"/>
          </p:cNvSpPr>
          <p:nvPr/>
        </p:nvSpPr>
        <p:spPr>
          <a:xfrm xmlns:a="http://schemas.openxmlformats.org/drawingml/2006/main">
            <a:off x="9753600" y="402907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C6965"/>
                </a:solidFill>
                <a:latin typeface="Helvetica Neue"/>
                <a:ea typeface="Helvetica Neue"/>
                <a:cs typeface="Helvetica Neue"/>
              </a:defRPr>
            </a:pPr>
            <a:r>
              <a:rPr sz="1500" b="0">
                <a:solidFill>
                  <a:srgbClr val="5C6965"/>
                </a:solidFill>
                <a:latin typeface="Helvetica Neue"/>
                <a:ea typeface="Helvetica Neue"/>
                <a:cs typeface="Helvetica Neue"/>
              </a:rPr>
              <a:t>11.10 avg. position</a:t>
            </a:r>
          </a:p>
        </p:txBody>
      </p:sp>
      <p:sp>
        <p:nvSpPr>
          <p:cNvPr id="28" name="">
            <a:extLst xmlns:a="http://schemas.openxmlformats.org/drawingml/2006/main">
              <a:ext uri="{FF2B5EF4-FFF2-40B4-BE49-F238E27FC236}">
                <a16:creationId xmlns:a16="http://schemas.microsoft.com/office/drawing/2014/main" id="{A507D13E-077B-4E3F-8652-0B0CE838BFA5}"/>
              </a:ext>
            </a:extLst>
          </p:cNvPr>
          <p:cNvSpPr>
            <a:spLocks xmlns:a="http://schemas.openxmlformats.org/drawingml/2006/main" noGrp="1"/>
          </p:cNvSpPr>
          <p:nvPr/>
        </p:nvSpPr>
        <p:spPr>
          <a:xfrm xmlns:a="http://schemas.openxmlformats.org/drawingml/2006/main">
            <a:off x="400050" y="5048250"/>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01A18"/>
                </a:solidFill>
                <a:latin typeface="Helvetica Neue"/>
                <a:ea typeface="Helvetica Neue"/>
                <a:cs typeface="Helvetica Neue"/>
              </a:defRPr>
            </a:pPr>
            <a:r>
              <a:rPr sz="1575" b="1">
                <a:solidFill>
                  <a:srgbClr val="101A18"/>
                </a:solidFill>
                <a:latin typeface="Helvetica Neue"/>
                <a:ea typeface="Helvetica Neue"/>
                <a:cs typeface="Helvetica Neue"/>
              </a:rPr>
              <a:t>Why it matters: Persian photo-calorie queries rank near page one and already earn clicks; dedicated localized pages can deepen query-to-page fit.</a:t>
            </a:r>
          </a:p>
        </p:txBody>
      </p:sp>
      <p:sp>
        <p:nvSpPr>
          <p:cNvPr id="29" name="">
            <a:extLst xmlns:a="http://schemas.openxmlformats.org/drawingml/2006/main">
              <a:ext uri="{FF2B5EF4-FFF2-40B4-BE49-F238E27FC236}">
                <a16:creationId xmlns:a16="http://schemas.microsoft.com/office/drawing/2014/main" id="{223FE5A4-444C-4268-86A2-229868FF3382}"/>
              </a:ext>
            </a:extLst>
          </p:cNvPr>
          <p:cNvSpPr>
            <a:spLocks xmlns:a="http://schemas.openxmlformats.org/drawingml/2006/main" noGrp="1"/>
          </p:cNvSpPr>
          <p:nvPr/>
        </p:nvSpPr>
        <p:spPr>
          <a:xfrm xmlns:a="http://schemas.openxmlformats.org/drawingml/2006/main">
            <a:off x="400050" y="6429375"/>
            <a:ext cx="885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C6965"/>
                </a:solidFill>
                <a:latin typeface="Helvetica Neue"/>
                <a:ea typeface="Helvetica Neue"/>
                <a:cs typeface="Helvetica Neue"/>
              </a:defRPr>
            </a:pPr>
            <a:r>
              <a:rPr sz="750" b="0">
                <a:solidFill>
                  <a:srgbClr val="5C6965"/>
                </a:solidFill>
                <a:latin typeface="Helvetica Neue"/>
                <a:ea typeface="Helvetica Neue"/>
                <a:cs typeface="Helvetica Neue"/>
              </a:rPr>
              <a:t>Source: Calkilo repository — public product, pricing &amp; Search Console data (Feb 4–May 3, 2026).</a:t>
            </a:r>
          </a:p>
        </p:txBody>
      </p:sp>
    </p:spTree>
    <p:extLst>
      <p:ext uri="{BB962C8B-B14F-4D97-AF65-F5344CB8AC3E}">
        <p14:creationId xmlns:p14="http://schemas.microsoft.com/office/powerpoint/2010/main" val="13597890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08A3B6-8BDA-4B41-BE48-33C4BF71DC2D}"/>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2A56B"/>
                </a:solidFill>
                <a:latin typeface="Helvetica Neue"/>
                <a:ea typeface="Helvetica Neue"/>
                <a:cs typeface="Helvetica Neue"/>
              </a:defRPr>
            </a:pPr>
            <a:r>
              <a:rPr sz="900" b="1">
                <a:solidFill>
                  <a:srgbClr val="22A56B"/>
                </a:solidFill>
                <a:latin typeface="Helvetica Neue"/>
                <a:ea typeface="Helvetica Neue"/>
                <a:cs typeface="Helvetica Neue"/>
              </a:rPr>
              <a:t>CALKILO | INVESTOR DECK</a:t>
            </a:r>
          </a:p>
        </p:txBody>
      </p:sp>
      <p:sp>
        <p:nvSpPr>
          <p:cNvPr id="2" name="">
            <a:extLst xmlns:a="http://schemas.openxmlformats.org/drawingml/2006/main">
              <a:ext uri="{FF2B5EF4-FFF2-40B4-BE49-F238E27FC236}">
                <a16:creationId xmlns:a16="http://schemas.microsoft.com/office/drawing/2014/main" id="{643C9A98-BFE7-4C8E-B069-31626EA9C953}"/>
              </a:ext>
            </a:extLst>
          </p:cNvPr>
          <p:cNvSpPr>
            <a:spLocks xmlns:a="http://schemas.openxmlformats.org/drawingml/2006/main" noGrp="1"/>
          </p:cNvSpPr>
          <p:nvPr/>
        </p:nvSpPr>
        <p:spPr>
          <a:xfrm xmlns:a="http://schemas.openxmlformats.org/drawingml/2006/main">
            <a:off x="4000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01A18"/>
                </a:solidFill>
                <a:latin typeface="Helvetica Neue"/>
                <a:ea typeface="Helvetica Neue"/>
                <a:cs typeface="Helvetica Neue"/>
              </a:defRPr>
            </a:pPr>
            <a:r>
              <a:rPr sz="3000" b="1">
                <a:solidFill>
                  <a:srgbClr val="101A18"/>
                </a:solidFill>
                <a:latin typeface="Helvetica Neue"/>
                <a:ea typeface="Helvetica Neue"/>
                <a:cs typeface="Helvetica Neue"/>
              </a:rPr>
              <a:t>A simple freemium model keeps the upgrade path legible.</a:t>
            </a:r>
          </a:p>
        </p:txBody>
      </p:sp>
      <p:sp>
        <p:nvSpPr>
          <p:cNvPr id="3" name="">
            <a:extLst xmlns:a="http://schemas.openxmlformats.org/drawingml/2006/main">
              <a:ext uri="{FF2B5EF4-FFF2-40B4-BE49-F238E27FC236}">
                <a16:creationId xmlns:a16="http://schemas.microsoft.com/office/drawing/2014/main" id="{7970E6E9-4EB9-495B-8E12-0B43DAEB0A61}"/>
              </a:ext>
            </a:extLst>
          </p:cNvPr>
          <p:cNvSpPr>
            <a:spLocks xmlns:a="http://schemas.openxmlformats.org/drawingml/2006/main" noGrp="1"/>
          </p:cNvSpPr>
          <p:nvPr/>
        </p:nvSpPr>
        <p:spPr>
          <a:xfrm xmlns:a="http://schemas.openxmlformats.org/drawingml/2006/main">
            <a:off x="11239500" y="63817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C6965"/>
                </a:solidFill>
                <a:latin typeface="Helvetica Neue"/>
                <a:ea typeface="Helvetica Neue"/>
                <a:cs typeface="Helvetica Neue"/>
              </a:defRPr>
            </a:pPr>
            <a:r>
              <a:rPr sz="900" b="0">
                <a:solidFill>
                  <a:srgbClr val="5C6965"/>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5253C2B5-366D-4402-8A48-062DE0BAB570}"/>
              </a:ext>
            </a:extLst>
          </p:cNvPr>
          <p:cNvSpPr>
            <a:spLocks xmlns:a="http://schemas.openxmlformats.org/drawingml/2006/main" noGrp="1"/>
          </p:cNvSpPr>
          <p:nvPr/>
        </p:nvSpPr>
        <p:spPr>
          <a:xfrm xmlns:a="http://schemas.openxmlformats.org/drawingml/2006/main">
            <a:off x="400050" y="1619250"/>
            <a:ext cx="5238750" cy="3048000"/>
          </a:xfrm>
          <a:prstGeom xmlns:a="http://schemas.openxmlformats.org/drawingml/2006/main" prst="roundRect">
            <a:avLst>
              <a:gd name="adj" fmla="val 3750"/>
            </a:avLst>
          </a:prstGeom>
          <a:solidFill xmlns:a="http://schemas.openxmlformats.org/drawingml/2006/main">
            <a:srgbClr val="F1F5F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9EE05F9-3AA9-44C1-BFFA-B2454D8286A4}"/>
              </a:ext>
            </a:extLst>
          </p:cNvPr>
          <p:cNvSpPr>
            <a:spLocks xmlns:a="http://schemas.openxmlformats.org/drawingml/2006/main" noGrp="1"/>
          </p:cNvSpPr>
          <p:nvPr/>
        </p:nvSpPr>
        <p:spPr>
          <a:xfrm xmlns:a="http://schemas.openxmlformats.org/drawingml/2006/main">
            <a:off x="685800" y="1952625"/>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01A18"/>
                </a:solidFill>
                <a:latin typeface="Helvetica Neue"/>
                <a:ea typeface="Helvetica Neue"/>
                <a:cs typeface="Helvetica Neue"/>
              </a:defRPr>
            </a:pPr>
            <a:r>
              <a:rPr sz="2100" b="1">
                <a:solidFill>
                  <a:srgbClr val="101A18"/>
                </a:solidFill>
                <a:latin typeface="Helvetica Neue"/>
                <a:ea typeface="Helvetica Neue"/>
                <a:cs typeface="Helvetica Neue"/>
              </a:rPr>
              <a:t>Free</a:t>
            </a:r>
          </a:p>
        </p:txBody>
      </p:sp>
      <p:sp>
        <p:nvSpPr>
          <p:cNvPr id="6" name="">
            <a:extLst xmlns:a="http://schemas.openxmlformats.org/drawingml/2006/main">
              <a:ext uri="{FF2B5EF4-FFF2-40B4-BE49-F238E27FC236}">
                <a16:creationId xmlns:a16="http://schemas.microsoft.com/office/drawing/2014/main" id="{7B355F44-C2AA-4E6B-A271-50757CE7D91A}"/>
              </a:ext>
            </a:extLst>
          </p:cNvPr>
          <p:cNvSpPr>
            <a:spLocks xmlns:a="http://schemas.openxmlformats.org/drawingml/2006/main" noGrp="1"/>
          </p:cNvSpPr>
          <p:nvPr/>
        </p:nvSpPr>
        <p:spPr>
          <a:xfrm xmlns:a="http://schemas.openxmlformats.org/drawingml/2006/main">
            <a:off x="685800" y="2524125"/>
            <a:ext cx="4191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C6965"/>
                </a:solidFill>
                <a:latin typeface="Helvetica Neue"/>
                <a:ea typeface="Helvetica Neue"/>
                <a:cs typeface="Helvetica Neue"/>
              </a:defRPr>
            </a:pPr>
            <a:r>
              <a:rPr sz="1425" b="0">
                <a:solidFill>
                  <a:srgbClr val="5C6965"/>
                </a:solidFill>
                <a:latin typeface="Helvetica Neue"/>
                <a:ea typeface="Helvetica Neue"/>
                <a:cs typeface="Helvetica Neue"/>
              </a:rPr>
              <a:t>Habit formation through photo-first calorie estimates, food logging and core nutrition tracking.</a:t>
            </a:r>
          </a:p>
        </p:txBody>
      </p:sp>
      <p:sp>
        <p:nvSpPr>
          <p:cNvPr id="7" name="">
            <a:extLst xmlns:a="http://schemas.openxmlformats.org/drawingml/2006/main">
              <a:ext uri="{FF2B5EF4-FFF2-40B4-BE49-F238E27FC236}">
                <a16:creationId xmlns:a16="http://schemas.microsoft.com/office/drawing/2014/main" id="{179B251B-64C5-4924-8251-F99C09239BF2}"/>
              </a:ext>
            </a:extLst>
          </p:cNvPr>
          <p:cNvSpPr>
            <a:spLocks xmlns:a="http://schemas.openxmlformats.org/drawingml/2006/main" noGrp="1"/>
          </p:cNvSpPr>
          <p:nvPr/>
        </p:nvSpPr>
        <p:spPr>
          <a:xfrm xmlns:a="http://schemas.openxmlformats.org/drawingml/2006/main">
            <a:off x="6191250" y="1619250"/>
            <a:ext cx="5238750" cy="3048000"/>
          </a:xfrm>
          <a:prstGeom xmlns:a="http://schemas.openxmlformats.org/drawingml/2006/main" prst="roundRect">
            <a:avLst>
              <a:gd name="adj" fmla="val 3750"/>
            </a:avLst>
          </a:prstGeom>
          <a:solidFill xmlns:a="http://schemas.openxmlformats.org/drawingml/2006/main">
            <a:srgbClr val="E8F7E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B2CC98-B5D4-4ACB-8574-63D2ED1036E4}"/>
              </a:ext>
            </a:extLst>
          </p:cNvPr>
          <p:cNvSpPr>
            <a:spLocks xmlns:a="http://schemas.openxmlformats.org/drawingml/2006/main" noGrp="1"/>
          </p:cNvSpPr>
          <p:nvPr/>
        </p:nvSpPr>
        <p:spPr>
          <a:xfrm xmlns:a="http://schemas.openxmlformats.org/drawingml/2006/main">
            <a:off x="6477000" y="195262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01A18"/>
                </a:solidFill>
                <a:latin typeface="Helvetica Neue"/>
                <a:ea typeface="Helvetica Neue"/>
                <a:cs typeface="Helvetica Neue"/>
              </a:defRPr>
            </a:pPr>
            <a:r>
              <a:rPr sz="2100" b="1">
                <a:solidFill>
                  <a:srgbClr val="101A18"/>
                </a:solidFill>
                <a:latin typeface="Helvetica Neue"/>
                <a:ea typeface="Helvetica Neue"/>
                <a:cs typeface="Helvetica Neue"/>
              </a:rPr>
              <a:t>Premium</a:t>
            </a:r>
          </a:p>
        </p:txBody>
      </p:sp>
      <p:sp>
        <p:nvSpPr>
          <p:cNvPr id="9" name="">
            <a:extLst xmlns:a="http://schemas.openxmlformats.org/drawingml/2006/main">
              <a:ext uri="{FF2B5EF4-FFF2-40B4-BE49-F238E27FC236}">
                <a16:creationId xmlns:a16="http://schemas.microsoft.com/office/drawing/2014/main" id="{AB4773B6-DE86-4FE1-A8DC-5CEFF9FB1C8E}"/>
              </a:ext>
            </a:extLst>
          </p:cNvPr>
          <p:cNvSpPr>
            <a:spLocks xmlns:a="http://schemas.openxmlformats.org/drawingml/2006/main" noGrp="1"/>
          </p:cNvSpPr>
          <p:nvPr/>
        </p:nvSpPr>
        <p:spPr>
          <a:xfrm xmlns:a="http://schemas.openxmlformats.org/drawingml/2006/main">
            <a:off x="6477000" y="2524125"/>
            <a:ext cx="4191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C6965"/>
                </a:solidFill>
                <a:latin typeface="Helvetica Neue"/>
                <a:ea typeface="Helvetica Neue"/>
                <a:cs typeface="Helvetica Neue"/>
              </a:defRPr>
            </a:pPr>
            <a:r>
              <a:rPr sz="1425" b="0">
                <a:solidFill>
                  <a:srgbClr val="5C6965"/>
                </a:solidFill>
                <a:latin typeface="Helvetica Neue"/>
                <a:ea typeface="Helvetica Neue"/>
                <a:cs typeface="Helvetica Neue"/>
              </a:rPr>
              <a:t>Personalized meal plans, deeper analytics and AI coaching.</a:t>
            </a:r>
          </a:p>
        </p:txBody>
      </p:sp>
      <p:sp>
        <p:nvSpPr>
          <p:cNvPr id="10" name="">
            <a:extLst xmlns:a="http://schemas.openxmlformats.org/drawingml/2006/main">
              <a:ext uri="{FF2B5EF4-FFF2-40B4-BE49-F238E27FC236}">
                <a16:creationId xmlns:a16="http://schemas.microsoft.com/office/drawing/2014/main" id="{870796AB-6476-47B2-B821-275E2BD4EC3F}"/>
              </a:ext>
            </a:extLst>
          </p:cNvPr>
          <p:cNvSpPr>
            <a:spLocks xmlns:a="http://schemas.openxmlformats.org/drawingml/2006/main" noGrp="1"/>
          </p:cNvSpPr>
          <p:nvPr/>
        </p:nvSpPr>
        <p:spPr>
          <a:xfrm xmlns:a="http://schemas.openxmlformats.org/drawingml/2006/main">
            <a:off x="6477000" y="34766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22A56B"/>
                </a:solidFill>
                <a:latin typeface="Helvetica Neue"/>
                <a:ea typeface="Helvetica Neue"/>
                <a:cs typeface="Helvetica Neue"/>
              </a:defRPr>
            </a:pPr>
            <a:r>
              <a:rPr sz="1875" b="1">
                <a:solidFill>
                  <a:srgbClr val="22A56B"/>
                </a:solidFill>
                <a:latin typeface="Helvetica Neue"/>
                <a:ea typeface="Helvetica Neue"/>
                <a:cs typeface="Helvetica Neue"/>
              </a:rPr>
              <a:t>$4.99 / month</a:t>
            </a:r>
          </a:p>
        </p:txBody>
      </p:sp>
      <p:sp>
        <p:nvSpPr>
          <p:cNvPr id="11" name="">
            <a:extLst xmlns:a="http://schemas.openxmlformats.org/drawingml/2006/main">
              <a:ext uri="{FF2B5EF4-FFF2-40B4-BE49-F238E27FC236}">
                <a16:creationId xmlns:a16="http://schemas.microsoft.com/office/drawing/2014/main" id="{30DA08E7-2D9F-484E-94BB-0818900AC639}"/>
              </a:ext>
            </a:extLst>
          </p:cNvPr>
          <p:cNvSpPr>
            <a:spLocks xmlns:a="http://schemas.openxmlformats.org/drawingml/2006/main" noGrp="1"/>
          </p:cNvSpPr>
          <p:nvPr/>
        </p:nvSpPr>
        <p:spPr>
          <a:xfrm xmlns:a="http://schemas.openxmlformats.org/drawingml/2006/main">
            <a:off x="8763000" y="347662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22A56B"/>
                </a:solidFill>
                <a:latin typeface="Helvetica Neue"/>
                <a:ea typeface="Helvetica Neue"/>
                <a:cs typeface="Helvetica Neue"/>
              </a:defRPr>
            </a:pPr>
            <a:r>
              <a:rPr sz="1875" b="1">
                <a:solidFill>
                  <a:srgbClr val="22A56B"/>
                </a:solidFill>
                <a:latin typeface="Helvetica Neue"/>
                <a:ea typeface="Helvetica Neue"/>
                <a:cs typeface="Helvetica Neue"/>
              </a:rPr>
              <a:t>$14.99 / year</a:t>
            </a:r>
          </a:p>
        </p:txBody>
      </p:sp>
      <p:sp>
        <p:nvSpPr>
          <p:cNvPr id="12" name="">
            <a:extLst xmlns:a="http://schemas.openxmlformats.org/drawingml/2006/main">
              <a:ext uri="{FF2B5EF4-FFF2-40B4-BE49-F238E27FC236}">
                <a16:creationId xmlns:a16="http://schemas.microsoft.com/office/drawing/2014/main" id="{88AD0ABA-3E14-45F0-B8B0-B9C0CF239B49}"/>
              </a:ext>
            </a:extLst>
          </p:cNvPr>
          <p:cNvSpPr>
            <a:spLocks xmlns:a="http://schemas.openxmlformats.org/drawingml/2006/main" noGrp="1"/>
          </p:cNvSpPr>
          <p:nvPr/>
        </p:nvSpPr>
        <p:spPr>
          <a:xfrm xmlns:a="http://schemas.openxmlformats.org/drawingml/2006/main">
            <a:off x="400050" y="5286375"/>
            <a:ext cx="1085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C6965"/>
                </a:solidFill>
                <a:latin typeface="Helvetica Neue"/>
                <a:ea typeface="Helvetica Neue"/>
                <a:cs typeface="Helvetica Neue"/>
              </a:defRPr>
            </a:pPr>
            <a:r>
              <a:rPr sz="1200" b="0">
                <a:solidFill>
                  <a:srgbClr val="5C6965"/>
                </a:solidFill>
                <a:latin typeface="Helvetica Neue"/>
                <a:ea typeface="Helvetica Neue"/>
                <a:cs typeface="Helvetica Neue"/>
              </a:rPr>
              <a:t>Investor note: repository data confirms pricing and feature packaging; it does not include conversion, retention or revenue metrics.</a:t>
            </a:r>
          </a:p>
        </p:txBody>
      </p:sp>
      <p:sp>
        <p:nvSpPr>
          <p:cNvPr id="13" name="">
            <a:extLst xmlns:a="http://schemas.openxmlformats.org/drawingml/2006/main">
              <a:ext uri="{FF2B5EF4-FFF2-40B4-BE49-F238E27FC236}">
                <a16:creationId xmlns:a16="http://schemas.microsoft.com/office/drawing/2014/main" id="{AE7EB966-7F32-45AC-9293-78AEC39BD551}"/>
              </a:ext>
            </a:extLst>
          </p:cNvPr>
          <p:cNvSpPr>
            <a:spLocks xmlns:a="http://schemas.openxmlformats.org/drawingml/2006/main" noGrp="1"/>
          </p:cNvSpPr>
          <p:nvPr/>
        </p:nvSpPr>
        <p:spPr>
          <a:xfrm xmlns:a="http://schemas.openxmlformats.org/drawingml/2006/main">
            <a:off x="400050" y="6429375"/>
            <a:ext cx="885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C6965"/>
                </a:solidFill>
                <a:latin typeface="Helvetica Neue"/>
                <a:ea typeface="Helvetica Neue"/>
                <a:cs typeface="Helvetica Neue"/>
              </a:defRPr>
            </a:pPr>
            <a:r>
              <a:rPr sz="750" b="0">
                <a:solidFill>
                  <a:srgbClr val="5C6965"/>
                </a:solidFill>
                <a:latin typeface="Helvetica Neue"/>
                <a:ea typeface="Helvetica Neue"/>
                <a:cs typeface="Helvetica Neue"/>
              </a:rPr>
              <a:t>Source: Calkilo public pricing page.</a:t>
            </a:r>
          </a:p>
        </p:txBody>
      </p:sp>
    </p:spTree>
    <p:extLst>
      <p:ext uri="{BB962C8B-B14F-4D97-AF65-F5344CB8AC3E}">
        <p14:creationId xmlns:p14="http://schemas.microsoft.com/office/powerpoint/2010/main" val="123146143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7052AB-5CB3-4C08-AA7E-2D86C33F235A}"/>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2A56B"/>
                </a:solidFill>
                <a:latin typeface="Helvetica Neue"/>
                <a:ea typeface="Helvetica Neue"/>
                <a:cs typeface="Helvetica Neue"/>
              </a:defRPr>
            </a:pPr>
            <a:r>
              <a:rPr sz="900" b="1">
                <a:solidFill>
                  <a:srgbClr val="22A56B"/>
                </a:solidFill>
                <a:latin typeface="Helvetica Neue"/>
                <a:ea typeface="Helvetica Neue"/>
                <a:cs typeface="Helvetica Neue"/>
              </a:rPr>
              <a:t>CALKILO | INVESTOR DECK</a:t>
            </a:r>
          </a:p>
        </p:txBody>
      </p:sp>
      <p:sp>
        <p:nvSpPr>
          <p:cNvPr id="2" name="">
            <a:extLst xmlns:a="http://schemas.openxmlformats.org/drawingml/2006/main">
              <a:ext uri="{FF2B5EF4-FFF2-40B4-BE49-F238E27FC236}">
                <a16:creationId xmlns:a16="http://schemas.microsoft.com/office/drawing/2014/main" id="{30B5B504-7EEA-4A4F-8911-94BA5B1DF293}"/>
              </a:ext>
            </a:extLst>
          </p:cNvPr>
          <p:cNvSpPr>
            <a:spLocks xmlns:a="http://schemas.openxmlformats.org/drawingml/2006/main" noGrp="1"/>
          </p:cNvSpPr>
          <p:nvPr/>
        </p:nvSpPr>
        <p:spPr>
          <a:xfrm xmlns:a="http://schemas.openxmlformats.org/drawingml/2006/main">
            <a:off x="4000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01A18"/>
                </a:solidFill>
                <a:latin typeface="Helvetica Neue"/>
                <a:ea typeface="Helvetica Neue"/>
                <a:cs typeface="Helvetica Neue"/>
              </a:defRPr>
            </a:pPr>
            <a:r>
              <a:rPr sz="3000" b="1">
                <a:solidFill>
                  <a:srgbClr val="101A18"/>
                </a:solidFill>
                <a:latin typeface="Helvetica Neue"/>
                <a:ea typeface="Helvetica Neue"/>
                <a:cs typeface="Helvetica Neue"/>
              </a:rPr>
              <a:t>The compounding asset is a localized, habit-forming product surface.</a:t>
            </a:r>
          </a:p>
        </p:txBody>
      </p:sp>
      <p:sp>
        <p:nvSpPr>
          <p:cNvPr id="3" name="">
            <a:extLst xmlns:a="http://schemas.openxmlformats.org/drawingml/2006/main">
              <a:ext uri="{FF2B5EF4-FFF2-40B4-BE49-F238E27FC236}">
                <a16:creationId xmlns:a16="http://schemas.microsoft.com/office/drawing/2014/main" id="{93D1A5CD-92B0-4D4A-AB10-76F2A3F3EDEF}"/>
              </a:ext>
            </a:extLst>
          </p:cNvPr>
          <p:cNvSpPr>
            <a:spLocks xmlns:a="http://schemas.openxmlformats.org/drawingml/2006/main" noGrp="1"/>
          </p:cNvSpPr>
          <p:nvPr/>
        </p:nvSpPr>
        <p:spPr>
          <a:xfrm xmlns:a="http://schemas.openxmlformats.org/drawingml/2006/main">
            <a:off x="11239500" y="63817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C6965"/>
                </a:solidFill>
                <a:latin typeface="Helvetica Neue"/>
                <a:ea typeface="Helvetica Neue"/>
                <a:cs typeface="Helvetica Neue"/>
              </a:defRPr>
            </a:pPr>
            <a:r>
              <a:rPr sz="900" b="0">
                <a:solidFill>
                  <a:srgbClr val="5C6965"/>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FB8F2B08-087E-49E5-949B-8AD829FAF89A}"/>
              </a:ext>
            </a:extLst>
          </p:cNvPr>
          <p:cNvSpPr>
            <a:spLocks xmlns:a="http://schemas.openxmlformats.org/drawingml/2006/main" noGrp="1"/>
          </p:cNvSpPr>
          <p:nvPr/>
        </p:nvSpPr>
        <p:spPr>
          <a:xfrm xmlns:a="http://schemas.openxmlformats.org/drawingml/2006/main">
            <a:off x="400050" y="1619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2A56B"/>
                </a:solidFill>
                <a:latin typeface="Helvetica Neue"/>
                <a:ea typeface="Helvetica Neue"/>
                <a:cs typeface="Helvetica Neue"/>
              </a:defRPr>
            </a:pPr>
            <a:r>
              <a:rPr sz="1050" b="1">
                <a:solidFill>
                  <a:srgbClr val="22A56B"/>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97703B4C-F914-44D9-88A6-686F9D54050D}"/>
              </a:ext>
            </a:extLst>
          </p:cNvPr>
          <p:cNvSpPr>
            <a:spLocks xmlns:a="http://schemas.openxmlformats.org/drawingml/2006/main" noGrp="1"/>
          </p:cNvSpPr>
          <p:nvPr/>
        </p:nvSpPr>
        <p:spPr>
          <a:xfrm xmlns:a="http://schemas.openxmlformats.org/drawingml/2006/main">
            <a:off x="400050" y="192405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A18"/>
                </a:solidFill>
                <a:latin typeface="Helvetica Neue"/>
                <a:ea typeface="Helvetica Neue"/>
                <a:cs typeface="Helvetica Neue"/>
              </a:defRPr>
            </a:pPr>
            <a:r>
              <a:rPr sz="1800" b="1">
                <a:solidFill>
                  <a:srgbClr val="101A18"/>
                </a:solidFill>
                <a:latin typeface="Helvetica Neue"/>
                <a:ea typeface="Helvetica Neue"/>
                <a:cs typeface="Helvetica Neue"/>
              </a:rPr>
              <a:t>Photo-first UX</a:t>
            </a:r>
          </a:p>
        </p:txBody>
      </p:sp>
      <p:sp>
        <p:nvSpPr>
          <p:cNvPr id="6" name="">
            <a:extLst xmlns:a="http://schemas.openxmlformats.org/drawingml/2006/main">
              <a:ext uri="{FF2B5EF4-FFF2-40B4-BE49-F238E27FC236}">
                <a16:creationId xmlns:a16="http://schemas.microsoft.com/office/drawing/2014/main" id="{62753613-0719-4FAB-B647-B1216B540F4E}"/>
              </a:ext>
            </a:extLst>
          </p:cNvPr>
          <p:cNvSpPr>
            <a:spLocks xmlns:a="http://schemas.openxmlformats.org/drawingml/2006/main" noGrp="1"/>
          </p:cNvSpPr>
          <p:nvPr/>
        </p:nvSpPr>
        <p:spPr>
          <a:xfrm xmlns:a="http://schemas.openxmlformats.org/drawingml/2006/main">
            <a:off x="400050" y="236220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C6965"/>
                </a:solidFill>
                <a:latin typeface="Helvetica Neue"/>
                <a:ea typeface="Helvetica Neue"/>
                <a:cs typeface="Helvetica Neue"/>
              </a:defRPr>
            </a:pPr>
            <a:r>
              <a:rPr sz="1350" b="0">
                <a:solidFill>
                  <a:srgbClr val="5C6965"/>
                </a:solidFill>
                <a:latin typeface="Helvetica Neue"/>
                <a:ea typeface="Helvetica Neue"/>
                <a:cs typeface="Helvetica Neue"/>
              </a:rPr>
              <a:t>Reduces friction at the moment a meal happens.</a:t>
            </a:r>
          </a:p>
        </p:txBody>
      </p:sp>
      <p:sp>
        <p:nvSpPr>
          <p:cNvPr id="7" name="">
            <a:extLst xmlns:a="http://schemas.openxmlformats.org/drawingml/2006/main">
              <a:ext uri="{FF2B5EF4-FFF2-40B4-BE49-F238E27FC236}">
                <a16:creationId xmlns:a16="http://schemas.microsoft.com/office/drawing/2014/main" id="{9E72890F-E54D-4D78-9CD6-5EBFEBD1B5E6}"/>
              </a:ext>
            </a:extLst>
          </p:cNvPr>
          <p:cNvSpPr>
            <a:spLocks xmlns:a="http://schemas.openxmlformats.org/drawingml/2006/main" noGrp="1"/>
          </p:cNvSpPr>
          <p:nvPr/>
        </p:nvSpPr>
        <p:spPr>
          <a:xfrm xmlns:a="http://schemas.openxmlformats.org/drawingml/2006/main">
            <a:off x="6210300" y="16192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2A56B"/>
                </a:solidFill>
                <a:latin typeface="Helvetica Neue"/>
                <a:ea typeface="Helvetica Neue"/>
                <a:cs typeface="Helvetica Neue"/>
              </a:defRPr>
            </a:pPr>
            <a:r>
              <a:rPr sz="1050" b="1">
                <a:solidFill>
                  <a:srgbClr val="22A56B"/>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B52B4D40-CC83-4DBA-AC90-FF621A5B88D7}"/>
              </a:ext>
            </a:extLst>
          </p:cNvPr>
          <p:cNvSpPr>
            <a:spLocks xmlns:a="http://schemas.openxmlformats.org/drawingml/2006/main" noGrp="1"/>
          </p:cNvSpPr>
          <p:nvPr/>
        </p:nvSpPr>
        <p:spPr>
          <a:xfrm xmlns:a="http://schemas.openxmlformats.org/drawingml/2006/main">
            <a:off x="6210300" y="192405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A18"/>
                </a:solidFill>
                <a:latin typeface="Helvetica Neue"/>
                <a:ea typeface="Helvetica Neue"/>
                <a:cs typeface="Helvetica Neue"/>
              </a:defRPr>
            </a:pPr>
            <a:r>
              <a:rPr sz="1800" b="1">
                <a:solidFill>
                  <a:srgbClr val="101A18"/>
                </a:solidFill>
                <a:latin typeface="Helvetica Neue"/>
                <a:ea typeface="Helvetica Neue"/>
                <a:cs typeface="Helvetica Neue"/>
              </a:rPr>
              <a:t>Localized acquisition</a:t>
            </a:r>
          </a:p>
        </p:txBody>
      </p:sp>
      <p:sp>
        <p:nvSpPr>
          <p:cNvPr id="9" name="">
            <a:extLst xmlns:a="http://schemas.openxmlformats.org/drawingml/2006/main">
              <a:ext uri="{FF2B5EF4-FFF2-40B4-BE49-F238E27FC236}">
                <a16:creationId xmlns:a16="http://schemas.microsoft.com/office/drawing/2014/main" id="{7D6BA142-92EE-41C3-953D-9B1B56E5B85D}"/>
              </a:ext>
            </a:extLst>
          </p:cNvPr>
          <p:cNvSpPr>
            <a:spLocks xmlns:a="http://schemas.openxmlformats.org/drawingml/2006/main" noGrp="1"/>
          </p:cNvSpPr>
          <p:nvPr/>
        </p:nvSpPr>
        <p:spPr>
          <a:xfrm xmlns:a="http://schemas.openxmlformats.org/drawingml/2006/main">
            <a:off x="6210300" y="236220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C6965"/>
                </a:solidFill>
                <a:latin typeface="Helvetica Neue"/>
                <a:ea typeface="Helvetica Neue"/>
                <a:cs typeface="Helvetica Neue"/>
              </a:defRPr>
            </a:pPr>
            <a:r>
              <a:rPr sz="1350" b="0">
                <a:solidFill>
                  <a:srgbClr val="5C6965"/>
                </a:solidFill>
                <a:latin typeface="Helvetica Neue"/>
                <a:ea typeface="Helvetica Neue"/>
                <a:cs typeface="Helvetica Neue"/>
              </a:rPr>
              <a:t>Public landing content spans English, Persian, Italian, Dutch, Russian, Chinese and Arabic.</a:t>
            </a:r>
          </a:p>
        </p:txBody>
      </p:sp>
      <p:sp>
        <p:nvSpPr>
          <p:cNvPr id="10" name="">
            <a:extLst xmlns:a="http://schemas.openxmlformats.org/drawingml/2006/main">
              <a:ext uri="{FF2B5EF4-FFF2-40B4-BE49-F238E27FC236}">
                <a16:creationId xmlns:a16="http://schemas.microsoft.com/office/drawing/2014/main" id="{D803C5F5-F064-4542-9334-7F5D78210155}"/>
              </a:ext>
            </a:extLst>
          </p:cNvPr>
          <p:cNvSpPr>
            <a:spLocks xmlns:a="http://schemas.openxmlformats.org/drawingml/2006/main" noGrp="1"/>
          </p:cNvSpPr>
          <p:nvPr/>
        </p:nvSpPr>
        <p:spPr>
          <a:xfrm xmlns:a="http://schemas.openxmlformats.org/drawingml/2006/main">
            <a:off x="400050" y="34766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2A56B"/>
                </a:solidFill>
                <a:latin typeface="Helvetica Neue"/>
                <a:ea typeface="Helvetica Neue"/>
                <a:cs typeface="Helvetica Neue"/>
              </a:defRPr>
            </a:pPr>
            <a:r>
              <a:rPr sz="1050" b="1">
                <a:solidFill>
                  <a:srgbClr val="22A56B"/>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BBCA9DCD-0CCD-4F9C-98D5-151386A1CEF1}"/>
              </a:ext>
            </a:extLst>
          </p:cNvPr>
          <p:cNvSpPr>
            <a:spLocks xmlns:a="http://schemas.openxmlformats.org/drawingml/2006/main" noGrp="1"/>
          </p:cNvSpPr>
          <p:nvPr/>
        </p:nvSpPr>
        <p:spPr>
          <a:xfrm xmlns:a="http://schemas.openxmlformats.org/drawingml/2006/main">
            <a:off x="400050" y="3781425"/>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A18"/>
                </a:solidFill>
                <a:latin typeface="Helvetica Neue"/>
                <a:ea typeface="Helvetica Neue"/>
                <a:cs typeface="Helvetica Neue"/>
              </a:defRPr>
            </a:pPr>
            <a:r>
              <a:rPr sz="1800" b="1">
                <a:solidFill>
                  <a:srgbClr val="101A18"/>
                </a:solidFill>
                <a:latin typeface="Helvetica Neue"/>
                <a:ea typeface="Helvetica Neue"/>
                <a:cs typeface="Helvetica Neue"/>
              </a:rPr>
              <a:t>Persian food relevance</a:t>
            </a:r>
          </a:p>
        </p:txBody>
      </p:sp>
      <p:sp>
        <p:nvSpPr>
          <p:cNvPr id="12" name="">
            <a:extLst xmlns:a="http://schemas.openxmlformats.org/drawingml/2006/main">
              <a:ext uri="{FF2B5EF4-FFF2-40B4-BE49-F238E27FC236}">
                <a16:creationId xmlns:a16="http://schemas.microsoft.com/office/drawing/2014/main" id="{091154F6-8925-490F-9181-70A963C0E244}"/>
              </a:ext>
            </a:extLst>
          </p:cNvPr>
          <p:cNvSpPr>
            <a:spLocks xmlns:a="http://schemas.openxmlformats.org/drawingml/2006/main" noGrp="1"/>
          </p:cNvSpPr>
          <p:nvPr/>
        </p:nvSpPr>
        <p:spPr>
          <a:xfrm xmlns:a="http://schemas.openxmlformats.org/drawingml/2006/main">
            <a:off x="400050" y="4219575"/>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C6965"/>
                </a:solidFill>
                <a:latin typeface="Helvetica Neue"/>
                <a:ea typeface="Helvetica Neue"/>
                <a:cs typeface="Helvetica Neue"/>
              </a:defRPr>
            </a:pPr>
            <a:r>
              <a:rPr sz="1350" b="0">
                <a:solidFill>
                  <a:srgbClr val="5C6965"/>
                </a:solidFill>
                <a:latin typeface="Helvetica Neue"/>
                <a:ea typeface="Helvetica Neue"/>
                <a:cs typeface="Helvetica Neue"/>
              </a:rPr>
              <a:t>Dedicated Persian guides and food-calorie examples strengthen regional usefulness.</a:t>
            </a:r>
          </a:p>
        </p:txBody>
      </p:sp>
      <p:sp>
        <p:nvSpPr>
          <p:cNvPr id="13" name="">
            <a:extLst xmlns:a="http://schemas.openxmlformats.org/drawingml/2006/main">
              <a:ext uri="{FF2B5EF4-FFF2-40B4-BE49-F238E27FC236}">
                <a16:creationId xmlns:a16="http://schemas.microsoft.com/office/drawing/2014/main" id="{3832D1ED-1633-42C0-9DDE-3579FF1C2C86}"/>
              </a:ext>
            </a:extLst>
          </p:cNvPr>
          <p:cNvSpPr>
            <a:spLocks xmlns:a="http://schemas.openxmlformats.org/drawingml/2006/main" noGrp="1"/>
          </p:cNvSpPr>
          <p:nvPr/>
        </p:nvSpPr>
        <p:spPr>
          <a:xfrm xmlns:a="http://schemas.openxmlformats.org/drawingml/2006/main">
            <a:off x="6210300" y="34766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2A56B"/>
                </a:solidFill>
                <a:latin typeface="Helvetica Neue"/>
                <a:ea typeface="Helvetica Neue"/>
                <a:cs typeface="Helvetica Neue"/>
              </a:defRPr>
            </a:pPr>
            <a:r>
              <a:rPr sz="1050" b="1">
                <a:solidFill>
                  <a:srgbClr val="22A56B"/>
                </a:solidFill>
                <a:latin typeface="Helvetica Neue"/>
                <a:ea typeface="Helvetica Neue"/>
                <a:cs typeface="Helvetica Neue"/>
              </a:rPr>
              <a:t>04</a:t>
            </a:r>
          </a:p>
        </p:txBody>
      </p:sp>
      <p:sp>
        <p:nvSpPr>
          <p:cNvPr id="14" name="">
            <a:extLst xmlns:a="http://schemas.openxmlformats.org/drawingml/2006/main">
              <a:ext uri="{FF2B5EF4-FFF2-40B4-BE49-F238E27FC236}">
                <a16:creationId xmlns:a16="http://schemas.microsoft.com/office/drawing/2014/main" id="{B9D4D6D5-7B0A-4111-ADA7-83AF1B2A001F}"/>
              </a:ext>
            </a:extLst>
          </p:cNvPr>
          <p:cNvSpPr>
            <a:spLocks xmlns:a="http://schemas.openxmlformats.org/drawingml/2006/main" noGrp="1"/>
          </p:cNvSpPr>
          <p:nvPr/>
        </p:nvSpPr>
        <p:spPr>
          <a:xfrm xmlns:a="http://schemas.openxmlformats.org/drawingml/2006/main">
            <a:off x="6210300" y="3781425"/>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A18"/>
                </a:solidFill>
                <a:latin typeface="Helvetica Neue"/>
                <a:ea typeface="Helvetica Neue"/>
                <a:cs typeface="Helvetica Neue"/>
              </a:defRPr>
            </a:pPr>
            <a:r>
              <a:rPr sz="1800" b="1">
                <a:solidFill>
                  <a:srgbClr val="101A18"/>
                </a:solidFill>
                <a:latin typeface="Helvetica Neue"/>
                <a:ea typeface="Helvetica Neue"/>
                <a:cs typeface="Helvetica Neue"/>
              </a:rPr>
              <a:t>Data loop</a:t>
            </a:r>
          </a:p>
        </p:txBody>
      </p:sp>
      <p:sp>
        <p:nvSpPr>
          <p:cNvPr id="15" name="">
            <a:extLst xmlns:a="http://schemas.openxmlformats.org/drawingml/2006/main">
              <a:ext uri="{FF2B5EF4-FFF2-40B4-BE49-F238E27FC236}">
                <a16:creationId xmlns:a16="http://schemas.microsoft.com/office/drawing/2014/main" id="{2C399938-7C92-48CC-AA4F-E202955380CF}"/>
              </a:ext>
            </a:extLst>
          </p:cNvPr>
          <p:cNvSpPr>
            <a:spLocks xmlns:a="http://schemas.openxmlformats.org/drawingml/2006/main" noGrp="1"/>
          </p:cNvSpPr>
          <p:nvPr/>
        </p:nvSpPr>
        <p:spPr>
          <a:xfrm xmlns:a="http://schemas.openxmlformats.org/drawingml/2006/main">
            <a:off x="6210300" y="4219575"/>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C6965"/>
                </a:solidFill>
                <a:latin typeface="Helvetica Neue"/>
                <a:ea typeface="Helvetica Neue"/>
                <a:cs typeface="Helvetica Neue"/>
              </a:defRPr>
            </a:pPr>
            <a:r>
              <a:rPr sz="1350" b="0">
                <a:solidFill>
                  <a:srgbClr val="5C6965"/>
                </a:solidFill>
                <a:latin typeface="Helvetica Neue"/>
                <a:ea typeface="Helvetica Neue"/>
                <a:cs typeface="Helvetica Neue"/>
              </a:rPr>
              <a:t>Goals, history and preferences inform meal suggestions as user data changes.</a:t>
            </a:r>
          </a:p>
        </p:txBody>
      </p:sp>
      <p:sp>
        <p:nvSpPr>
          <p:cNvPr id="16" name="">
            <a:extLst xmlns:a="http://schemas.openxmlformats.org/drawingml/2006/main">
              <a:ext uri="{FF2B5EF4-FFF2-40B4-BE49-F238E27FC236}">
                <a16:creationId xmlns:a16="http://schemas.microsoft.com/office/drawing/2014/main" id="{08823C71-DF6D-448D-BDC2-C069D9152371}"/>
              </a:ext>
            </a:extLst>
          </p:cNvPr>
          <p:cNvSpPr>
            <a:spLocks xmlns:a="http://schemas.openxmlformats.org/drawingml/2006/main" noGrp="1"/>
          </p:cNvSpPr>
          <p:nvPr/>
        </p:nvSpPr>
        <p:spPr>
          <a:xfrm xmlns:a="http://schemas.openxmlformats.org/drawingml/2006/main">
            <a:off x="400050" y="6429375"/>
            <a:ext cx="885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C6965"/>
                </a:solidFill>
                <a:latin typeface="Helvetica Neue"/>
                <a:ea typeface="Helvetica Neue"/>
                <a:cs typeface="Helvetica Neue"/>
              </a:defRPr>
            </a:pPr>
            <a:r>
              <a:rPr sz="750" b="0">
                <a:solidFill>
                  <a:srgbClr val="5C6965"/>
                </a:solidFill>
                <a:latin typeface="Helvetica Neue"/>
                <a:ea typeface="Helvetica Neue"/>
                <a:cs typeface="Helvetica Neue"/>
              </a:rPr>
              <a:t>Source: Calkilo llms.txt and localized landing-page copy.</a:t>
            </a:r>
          </a:p>
        </p:txBody>
      </p:sp>
    </p:spTree>
    <p:extLst>
      <p:ext uri="{BB962C8B-B14F-4D97-AF65-F5344CB8AC3E}">
        <p14:creationId xmlns:p14="http://schemas.microsoft.com/office/powerpoint/2010/main" val="159782098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807E30-EB18-4467-AA34-C23070498513}"/>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2A56B"/>
                </a:solidFill>
                <a:latin typeface="Helvetica Neue"/>
                <a:ea typeface="Helvetica Neue"/>
                <a:cs typeface="Helvetica Neue"/>
              </a:defRPr>
            </a:pPr>
            <a:r>
              <a:rPr sz="900" b="1">
                <a:solidFill>
                  <a:srgbClr val="22A56B"/>
                </a:solidFill>
                <a:latin typeface="Helvetica Neue"/>
                <a:ea typeface="Helvetica Neue"/>
                <a:cs typeface="Helvetica Neue"/>
              </a:rPr>
              <a:t>CALKILO | INVESTOR DECK</a:t>
            </a:r>
          </a:p>
        </p:txBody>
      </p:sp>
      <p:sp>
        <p:nvSpPr>
          <p:cNvPr id="2" name="">
            <a:extLst xmlns:a="http://schemas.openxmlformats.org/drawingml/2006/main">
              <a:ext uri="{FF2B5EF4-FFF2-40B4-BE49-F238E27FC236}">
                <a16:creationId xmlns:a16="http://schemas.microsoft.com/office/drawing/2014/main" id="{A3257AAC-DC2B-4584-9839-2DDA1F107442}"/>
              </a:ext>
            </a:extLst>
          </p:cNvPr>
          <p:cNvSpPr>
            <a:spLocks xmlns:a="http://schemas.openxmlformats.org/drawingml/2006/main" noGrp="1"/>
          </p:cNvSpPr>
          <p:nvPr/>
        </p:nvSpPr>
        <p:spPr>
          <a:xfrm xmlns:a="http://schemas.openxmlformats.org/drawingml/2006/main">
            <a:off x="4000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01A18"/>
                </a:solidFill>
                <a:latin typeface="Helvetica Neue"/>
                <a:ea typeface="Helvetica Neue"/>
                <a:cs typeface="Helvetica Neue"/>
              </a:defRPr>
            </a:pPr>
            <a:r>
              <a:rPr sz="3000" b="1">
                <a:solidFill>
                  <a:srgbClr val="101A18"/>
                </a:solidFill>
                <a:latin typeface="Helvetica Neue"/>
                <a:ea typeface="Helvetica Neue"/>
                <a:cs typeface="Helvetica Neue"/>
              </a:rPr>
              <a:t>The near-term plan converts early search visibility into repeatable acquisition.</a:t>
            </a:r>
          </a:p>
        </p:txBody>
      </p:sp>
      <p:sp>
        <p:nvSpPr>
          <p:cNvPr id="3" name="">
            <a:extLst xmlns:a="http://schemas.openxmlformats.org/drawingml/2006/main">
              <a:ext uri="{FF2B5EF4-FFF2-40B4-BE49-F238E27FC236}">
                <a16:creationId xmlns:a16="http://schemas.microsoft.com/office/drawing/2014/main" id="{434B3003-B336-4D1F-8D79-67780D4C2D55}"/>
              </a:ext>
            </a:extLst>
          </p:cNvPr>
          <p:cNvSpPr>
            <a:spLocks xmlns:a="http://schemas.openxmlformats.org/drawingml/2006/main" noGrp="1"/>
          </p:cNvSpPr>
          <p:nvPr/>
        </p:nvSpPr>
        <p:spPr>
          <a:xfrm xmlns:a="http://schemas.openxmlformats.org/drawingml/2006/main">
            <a:off x="11239500" y="63817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C6965"/>
                </a:solidFill>
                <a:latin typeface="Helvetica Neue"/>
                <a:ea typeface="Helvetica Neue"/>
                <a:cs typeface="Helvetica Neue"/>
              </a:defRPr>
            </a:pPr>
            <a:r>
              <a:rPr sz="900" b="0">
                <a:solidFill>
                  <a:srgbClr val="5C6965"/>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31418CEC-85A5-4883-BA80-85D63F6E710F}"/>
              </a:ext>
            </a:extLst>
          </p:cNvPr>
          <p:cNvSpPr>
            <a:spLocks xmlns:a="http://schemas.openxmlformats.org/drawingml/2006/main" noGrp="1"/>
          </p:cNvSpPr>
          <p:nvPr/>
        </p:nvSpPr>
        <p:spPr>
          <a:xfrm xmlns:a="http://schemas.openxmlformats.org/drawingml/2006/main">
            <a:off x="400050" y="1952625"/>
            <a:ext cx="3333750" cy="2571750"/>
          </a:xfrm>
          <a:prstGeom xmlns:a="http://schemas.openxmlformats.org/drawingml/2006/main" prst="roundRect">
            <a:avLst>
              <a:gd name="adj" fmla="val 4444"/>
            </a:avLst>
          </a:prstGeom>
          <a:solidFill xmlns:a="http://schemas.openxmlformats.org/drawingml/2006/main">
            <a:srgbClr val="E8F7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2B9D937-7B1C-465F-A28E-6A4570B3693D}"/>
              </a:ext>
            </a:extLst>
          </p:cNvPr>
          <p:cNvSpPr>
            <a:spLocks xmlns:a="http://schemas.openxmlformats.org/drawingml/2006/main" noGrp="1"/>
          </p:cNvSpPr>
          <p:nvPr/>
        </p:nvSpPr>
        <p:spPr>
          <a:xfrm xmlns:a="http://schemas.openxmlformats.org/drawingml/2006/main">
            <a:off x="638175" y="2190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2A56B"/>
                </a:solidFill>
                <a:latin typeface="Helvetica Neue"/>
                <a:ea typeface="Helvetica Neue"/>
                <a:cs typeface="Helvetica Neue"/>
              </a:defRPr>
            </a:pPr>
            <a:r>
              <a:rPr sz="1200" b="1">
                <a:solidFill>
                  <a:srgbClr val="22A56B"/>
                </a:solidFill>
                <a:latin typeface="Helvetica Neue"/>
                <a:ea typeface="Helvetica Neue"/>
                <a:cs typeface="Helvetica Neue"/>
              </a:rPr>
              <a:t>Now</a:t>
            </a:r>
          </a:p>
        </p:txBody>
      </p:sp>
      <p:sp>
        <p:nvSpPr>
          <p:cNvPr id="6" name="">
            <a:extLst xmlns:a="http://schemas.openxmlformats.org/drawingml/2006/main">
              <a:ext uri="{FF2B5EF4-FFF2-40B4-BE49-F238E27FC236}">
                <a16:creationId xmlns:a16="http://schemas.microsoft.com/office/drawing/2014/main" id="{D63B68E7-D312-4A34-8054-7CA8DDE6A8B5}"/>
              </a:ext>
            </a:extLst>
          </p:cNvPr>
          <p:cNvSpPr>
            <a:spLocks xmlns:a="http://schemas.openxmlformats.org/drawingml/2006/main" noGrp="1"/>
          </p:cNvSpPr>
          <p:nvPr/>
        </p:nvSpPr>
        <p:spPr>
          <a:xfrm xmlns:a="http://schemas.openxmlformats.org/drawingml/2006/main">
            <a:off x="638175" y="26479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A18"/>
                </a:solidFill>
                <a:latin typeface="Helvetica Neue"/>
                <a:ea typeface="Helvetica Neue"/>
                <a:cs typeface="Helvetica Neue"/>
              </a:defRPr>
            </a:pPr>
            <a:r>
              <a:rPr sz="1875" b="1">
                <a:solidFill>
                  <a:srgbClr val="101A18"/>
                </a:solidFill>
                <a:latin typeface="Helvetica Neue"/>
                <a:ea typeface="Helvetica Neue"/>
                <a:cs typeface="Helvetica Neue"/>
              </a:rPr>
              <a:t>Sharpen Persian query-to-page fit</a:t>
            </a:r>
          </a:p>
        </p:txBody>
      </p:sp>
      <p:sp>
        <p:nvSpPr>
          <p:cNvPr id="7" name="">
            <a:extLst xmlns:a="http://schemas.openxmlformats.org/drawingml/2006/main">
              <a:ext uri="{FF2B5EF4-FFF2-40B4-BE49-F238E27FC236}">
                <a16:creationId xmlns:a16="http://schemas.microsoft.com/office/drawing/2014/main" id="{6934F0B7-DCAE-47B1-AE70-B081D2A7B0E0}"/>
              </a:ext>
            </a:extLst>
          </p:cNvPr>
          <p:cNvSpPr>
            <a:spLocks xmlns:a="http://schemas.openxmlformats.org/drawingml/2006/main" noGrp="1"/>
          </p:cNvSpPr>
          <p:nvPr/>
        </p:nvSpPr>
        <p:spPr>
          <a:xfrm xmlns:a="http://schemas.openxmlformats.org/drawingml/2006/main">
            <a:off x="638175" y="342900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C6965"/>
                </a:solidFill>
                <a:latin typeface="Helvetica Neue"/>
                <a:ea typeface="Helvetica Neue"/>
                <a:cs typeface="Helvetica Neue"/>
              </a:defRPr>
            </a:pPr>
            <a:r>
              <a:rPr sz="1350" b="0">
                <a:solidFill>
                  <a:srgbClr val="5C6965"/>
                </a:solidFill>
                <a:latin typeface="Helvetica Neue"/>
                <a:ea typeface="Helvetica Neue"/>
                <a:cs typeface="Helvetica Neue"/>
              </a:rPr>
              <a:t>Photo-calorie and AI-calorie pages match validated high-intent searches.</a:t>
            </a:r>
          </a:p>
        </p:txBody>
      </p:sp>
      <p:sp>
        <p:nvSpPr>
          <p:cNvPr id="8" name="">
            <a:extLst xmlns:a="http://schemas.openxmlformats.org/drawingml/2006/main">
              <a:ext uri="{FF2B5EF4-FFF2-40B4-BE49-F238E27FC236}">
                <a16:creationId xmlns:a16="http://schemas.microsoft.com/office/drawing/2014/main" id="{CD53F8E0-95BF-4D34-A952-A383EF989683}"/>
              </a:ext>
            </a:extLst>
          </p:cNvPr>
          <p:cNvSpPr>
            <a:spLocks xmlns:a="http://schemas.openxmlformats.org/drawingml/2006/main" noGrp="1"/>
          </p:cNvSpPr>
          <p:nvPr/>
        </p:nvSpPr>
        <p:spPr>
          <a:xfrm xmlns:a="http://schemas.openxmlformats.org/drawingml/2006/main">
            <a:off x="4181475" y="1952625"/>
            <a:ext cx="3333750" cy="2571750"/>
          </a:xfrm>
          <a:prstGeom xmlns:a="http://schemas.openxmlformats.org/drawingml/2006/main" prst="roundRect">
            <a:avLst>
              <a:gd name="adj" fmla="val 4444"/>
            </a:avLst>
          </a:prstGeom>
          <a:solidFill xmlns:a="http://schemas.openxmlformats.org/drawingml/2006/main">
            <a:srgbClr val="F1F5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F6272D0-1B38-4224-8E33-CE603A0CEA3A}"/>
              </a:ext>
            </a:extLst>
          </p:cNvPr>
          <p:cNvSpPr>
            <a:spLocks xmlns:a="http://schemas.openxmlformats.org/drawingml/2006/main" noGrp="1"/>
          </p:cNvSpPr>
          <p:nvPr/>
        </p:nvSpPr>
        <p:spPr>
          <a:xfrm xmlns:a="http://schemas.openxmlformats.org/drawingml/2006/main">
            <a:off x="4419600" y="2190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2A56B"/>
                </a:solidFill>
                <a:latin typeface="Helvetica Neue"/>
                <a:ea typeface="Helvetica Neue"/>
                <a:cs typeface="Helvetica Neue"/>
              </a:defRPr>
            </a:pPr>
            <a:r>
              <a:rPr sz="1200" b="1">
                <a:solidFill>
                  <a:srgbClr val="22A56B"/>
                </a:solidFill>
                <a:latin typeface="Helvetica Neue"/>
                <a:ea typeface="Helvetica Neue"/>
                <a:cs typeface="Helvetica Neue"/>
              </a:rPr>
              <a:t>Next</a:t>
            </a:r>
          </a:p>
        </p:txBody>
      </p:sp>
      <p:sp>
        <p:nvSpPr>
          <p:cNvPr id="10" name="">
            <a:extLst xmlns:a="http://schemas.openxmlformats.org/drawingml/2006/main">
              <a:ext uri="{FF2B5EF4-FFF2-40B4-BE49-F238E27FC236}">
                <a16:creationId xmlns:a16="http://schemas.microsoft.com/office/drawing/2014/main" id="{804AE9BF-5804-47E0-AEBF-F8D3ABE8ABBC}"/>
              </a:ext>
            </a:extLst>
          </p:cNvPr>
          <p:cNvSpPr>
            <a:spLocks xmlns:a="http://schemas.openxmlformats.org/drawingml/2006/main" noGrp="1"/>
          </p:cNvSpPr>
          <p:nvPr/>
        </p:nvSpPr>
        <p:spPr>
          <a:xfrm xmlns:a="http://schemas.openxmlformats.org/drawingml/2006/main">
            <a:off x="4419600" y="26479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A18"/>
                </a:solidFill>
                <a:latin typeface="Helvetica Neue"/>
                <a:ea typeface="Helvetica Neue"/>
                <a:cs typeface="Helvetica Neue"/>
              </a:defRPr>
            </a:pPr>
            <a:r>
              <a:rPr sz="1875" b="1">
                <a:solidFill>
                  <a:srgbClr val="101A18"/>
                </a:solidFill>
                <a:latin typeface="Helvetica Neue"/>
                <a:ea typeface="Helvetica Neue"/>
                <a:cs typeface="Helvetica Neue"/>
              </a:rPr>
              <a:t>Improve conversion surfaces</a:t>
            </a:r>
          </a:p>
        </p:txBody>
      </p:sp>
      <p:sp>
        <p:nvSpPr>
          <p:cNvPr id="11" name="">
            <a:extLst xmlns:a="http://schemas.openxmlformats.org/drawingml/2006/main">
              <a:ext uri="{FF2B5EF4-FFF2-40B4-BE49-F238E27FC236}">
                <a16:creationId xmlns:a16="http://schemas.microsoft.com/office/drawing/2014/main" id="{12FF6C3F-E0F8-4F01-8E01-435FE1741065}"/>
              </a:ext>
            </a:extLst>
          </p:cNvPr>
          <p:cNvSpPr>
            <a:spLocks xmlns:a="http://schemas.openxmlformats.org/drawingml/2006/main" noGrp="1"/>
          </p:cNvSpPr>
          <p:nvPr/>
        </p:nvSpPr>
        <p:spPr>
          <a:xfrm xmlns:a="http://schemas.openxmlformats.org/drawingml/2006/main">
            <a:off x="4419600" y="342900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C6965"/>
                </a:solidFill>
                <a:latin typeface="Helvetica Neue"/>
                <a:ea typeface="Helvetica Neue"/>
                <a:cs typeface="Helvetica Neue"/>
              </a:defRPr>
            </a:pPr>
            <a:r>
              <a:rPr sz="1350" b="0">
                <a:solidFill>
                  <a:srgbClr val="5C6965"/>
                </a:solidFill>
                <a:latin typeface="Helvetica Neue"/>
                <a:ea typeface="Helvetica Neue"/>
                <a:cs typeface="Helvetica Neue"/>
              </a:rPr>
              <a:t>Optimize mobile pages, app-store paths, snippets and premium communication.</a:t>
            </a:r>
          </a:p>
        </p:txBody>
      </p:sp>
      <p:sp>
        <p:nvSpPr>
          <p:cNvPr id="12" name="">
            <a:extLst xmlns:a="http://schemas.openxmlformats.org/drawingml/2006/main">
              <a:ext uri="{FF2B5EF4-FFF2-40B4-BE49-F238E27FC236}">
                <a16:creationId xmlns:a16="http://schemas.microsoft.com/office/drawing/2014/main" id="{A8952810-4FA0-4A81-B06B-ABC4BC792442}"/>
              </a:ext>
            </a:extLst>
          </p:cNvPr>
          <p:cNvSpPr>
            <a:spLocks xmlns:a="http://schemas.openxmlformats.org/drawingml/2006/main" noGrp="1"/>
          </p:cNvSpPr>
          <p:nvPr/>
        </p:nvSpPr>
        <p:spPr>
          <a:xfrm xmlns:a="http://schemas.openxmlformats.org/drawingml/2006/main">
            <a:off x="7962900" y="1952625"/>
            <a:ext cx="3333750" cy="2571750"/>
          </a:xfrm>
          <a:prstGeom xmlns:a="http://schemas.openxmlformats.org/drawingml/2006/main" prst="roundRect">
            <a:avLst>
              <a:gd name="adj" fmla="val 4444"/>
            </a:avLst>
          </a:prstGeom>
          <a:solidFill xmlns:a="http://schemas.openxmlformats.org/drawingml/2006/main">
            <a:srgbClr val="F1F5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6BBEEE9-1670-4AA9-9ABB-F70442A99F2E}"/>
              </a:ext>
            </a:extLst>
          </p:cNvPr>
          <p:cNvSpPr>
            <a:spLocks xmlns:a="http://schemas.openxmlformats.org/drawingml/2006/main" noGrp="1"/>
          </p:cNvSpPr>
          <p:nvPr/>
        </p:nvSpPr>
        <p:spPr>
          <a:xfrm xmlns:a="http://schemas.openxmlformats.org/drawingml/2006/main">
            <a:off x="8201025" y="2190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2A56B"/>
                </a:solidFill>
                <a:latin typeface="Helvetica Neue"/>
                <a:ea typeface="Helvetica Neue"/>
                <a:cs typeface="Helvetica Neue"/>
              </a:defRPr>
            </a:pPr>
            <a:r>
              <a:rPr sz="1200" b="1">
                <a:solidFill>
                  <a:srgbClr val="22A56B"/>
                </a:solidFill>
                <a:latin typeface="Helvetica Neue"/>
                <a:ea typeface="Helvetica Neue"/>
                <a:cs typeface="Helvetica Neue"/>
              </a:rPr>
              <a:t>Then</a:t>
            </a:r>
          </a:p>
        </p:txBody>
      </p:sp>
      <p:sp>
        <p:nvSpPr>
          <p:cNvPr id="14" name="">
            <a:extLst xmlns:a="http://schemas.openxmlformats.org/drawingml/2006/main">
              <a:ext uri="{FF2B5EF4-FFF2-40B4-BE49-F238E27FC236}">
                <a16:creationId xmlns:a16="http://schemas.microsoft.com/office/drawing/2014/main" id="{4F6477B1-A607-454C-BCC0-F6DE4533656A}"/>
              </a:ext>
            </a:extLst>
          </p:cNvPr>
          <p:cNvSpPr>
            <a:spLocks xmlns:a="http://schemas.openxmlformats.org/drawingml/2006/main" noGrp="1"/>
          </p:cNvSpPr>
          <p:nvPr/>
        </p:nvSpPr>
        <p:spPr>
          <a:xfrm xmlns:a="http://schemas.openxmlformats.org/drawingml/2006/main">
            <a:off x="8201025" y="26479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A18"/>
                </a:solidFill>
                <a:latin typeface="Helvetica Neue"/>
                <a:ea typeface="Helvetica Neue"/>
                <a:cs typeface="Helvetica Neue"/>
              </a:defRPr>
            </a:pPr>
            <a:r>
              <a:rPr sz="1875" b="1">
                <a:solidFill>
                  <a:srgbClr val="101A18"/>
                </a:solidFill>
                <a:latin typeface="Helvetica Neue"/>
                <a:ea typeface="Helvetica Neue"/>
                <a:cs typeface="Helvetica Neue"/>
              </a:rPr>
              <a:t>Repeat localization playbook</a:t>
            </a:r>
          </a:p>
        </p:txBody>
      </p:sp>
      <p:sp>
        <p:nvSpPr>
          <p:cNvPr id="15" name="">
            <a:extLst xmlns:a="http://schemas.openxmlformats.org/drawingml/2006/main">
              <a:ext uri="{FF2B5EF4-FFF2-40B4-BE49-F238E27FC236}">
                <a16:creationId xmlns:a16="http://schemas.microsoft.com/office/drawing/2014/main" id="{48F0F1A1-4C1A-4A95-A193-9B60FC69DE8D}"/>
              </a:ext>
            </a:extLst>
          </p:cNvPr>
          <p:cNvSpPr>
            <a:spLocks xmlns:a="http://schemas.openxmlformats.org/drawingml/2006/main" noGrp="1"/>
          </p:cNvSpPr>
          <p:nvPr/>
        </p:nvSpPr>
        <p:spPr>
          <a:xfrm xmlns:a="http://schemas.openxmlformats.org/drawingml/2006/main">
            <a:off x="8201025" y="342900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C6965"/>
                </a:solidFill>
                <a:latin typeface="Helvetica Neue"/>
                <a:ea typeface="Helvetica Neue"/>
                <a:cs typeface="Helvetica Neue"/>
              </a:defRPr>
            </a:pPr>
            <a:r>
              <a:rPr sz="1350" b="0">
                <a:solidFill>
                  <a:srgbClr val="5C6965"/>
                </a:solidFill>
                <a:latin typeface="Helvetica Neue"/>
                <a:ea typeface="Helvetica Neue"/>
                <a:cs typeface="Helvetica Neue"/>
              </a:rPr>
              <a:t>Extend proven content-product fit to Italian and other high-potential markets.</a:t>
            </a:r>
          </a:p>
        </p:txBody>
      </p:sp>
      <p:sp>
        <p:nvSpPr>
          <p:cNvPr id="16" name="">
            <a:extLst xmlns:a="http://schemas.openxmlformats.org/drawingml/2006/main">
              <a:ext uri="{FF2B5EF4-FFF2-40B4-BE49-F238E27FC236}">
                <a16:creationId xmlns:a16="http://schemas.microsoft.com/office/drawing/2014/main" id="{DC3208C4-CD9E-4B0A-81C2-2913ACBB2F5F}"/>
              </a:ext>
            </a:extLst>
          </p:cNvPr>
          <p:cNvSpPr>
            <a:spLocks xmlns:a="http://schemas.openxmlformats.org/drawingml/2006/main" noGrp="1"/>
          </p:cNvSpPr>
          <p:nvPr/>
        </p:nvSpPr>
        <p:spPr>
          <a:xfrm xmlns:a="http://schemas.openxmlformats.org/drawingml/2006/main">
            <a:off x="400050" y="5238750"/>
            <a:ext cx="10715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01A18"/>
                </a:solidFill>
                <a:latin typeface="Helvetica Neue"/>
                <a:ea typeface="Helvetica Neue"/>
                <a:cs typeface="Helvetica Neue"/>
              </a:defRPr>
            </a:pPr>
            <a:r>
              <a:rPr sz="1575" b="1">
                <a:solidFill>
                  <a:srgbClr val="101A18"/>
                </a:solidFill>
                <a:latin typeface="Helvetica Neue"/>
                <a:ea typeface="Helvetica Neue"/>
                <a:cs typeface="Helvetica Neue"/>
              </a:rPr>
              <a:t>The operating question for investors: can Calkilo translate localized intent and a lower-friction logging loop into durable subscriptions?</a:t>
            </a:r>
          </a:p>
        </p:txBody>
      </p:sp>
      <p:sp>
        <p:nvSpPr>
          <p:cNvPr id="17" name="">
            <a:extLst xmlns:a="http://schemas.openxmlformats.org/drawingml/2006/main">
              <a:ext uri="{FF2B5EF4-FFF2-40B4-BE49-F238E27FC236}">
                <a16:creationId xmlns:a16="http://schemas.microsoft.com/office/drawing/2014/main" id="{DE88FF02-E815-4D82-BFA8-DC4E9B637CA7}"/>
              </a:ext>
            </a:extLst>
          </p:cNvPr>
          <p:cNvSpPr>
            <a:spLocks xmlns:a="http://schemas.openxmlformats.org/drawingml/2006/main" noGrp="1"/>
          </p:cNvSpPr>
          <p:nvPr/>
        </p:nvSpPr>
        <p:spPr>
          <a:xfrm xmlns:a="http://schemas.openxmlformats.org/drawingml/2006/main">
            <a:off x="400050" y="6429375"/>
            <a:ext cx="885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5C6965"/>
                </a:solidFill>
                <a:latin typeface="Helvetica Neue"/>
                <a:ea typeface="Helvetica Neue"/>
                <a:cs typeface="Helvetica Neue"/>
              </a:defRPr>
            </a:pPr>
            <a:r>
              <a:rPr sz="750" b="0">
                <a:solidFill>
                  <a:srgbClr val="5C6965"/>
                </a:solidFill>
                <a:latin typeface="Helvetica Neue"/>
                <a:ea typeface="Helvetica Neue"/>
                <a:cs typeface="Helvetica Neue"/>
              </a:rPr>
              <a:t>Roadmap synthesized from the repository’s 30-day SEO action plan.</a:t>
            </a:r>
          </a:p>
        </p:txBody>
      </p:sp>
    </p:spTree>
    <p:extLst>
      <p:ext uri="{BB962C8B-B14F-4D97-AF65-F5344CB8AC3E}">
        <p14:creationId xmlns:p14="http://schemas.microsoft.com/office/powerpoint/2010/main" val="515169902"/>
      </p:ext>
    </p:extLst>
  </p:cSld>
</p:sld>
</file>

<file path=ppt/slides/slide10.xml><?xml version="1.0" encoding="utf-8"?>
<p:sld xmlns:p="http://schemas.openxmlformats.org/presentationml/2006/main">
  <p:cSld>
    <p:bg>
      <p:bgPr>
        <a:solidFill xmlns:a="http://schemas.openxmlformats.org/drawingml/2006/main">
          <a:srgbClr val="101A1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9D4FFB-6FF9-4A65-8E60-558A1FC58FAA}"/>
              </a:ext>
            </a:extLst>
          </p:cNvPr>
          <p:cNvSpPr>
            <a:spLocks xmlns:a="http://schemas.openxmlformats.org/drawingml/2006/main" noGrp="1"/>
          </p:cNvSpPr>
          <p:nvPr/>
        </p:nvSpPr>
        <p:spPr>
          <a:xfrm xmlns:a="http://schemas.openxmlformats.org/drawingml/2006/main">
            <a:off x="495300" y="5143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9BE1BF"/>
                </a:solidFill>
                <a:latin typeface="Helvetica Neue"/>
                <a:ea typeface="Helvetica Neue"/>
                <a:cs typeface="Helvetica Neue"/>
              </a:defRPr>
            </a:pPr>
            <a:r>
              <a:rPr sz="1200" b="1">
                <a:solidFill>
                  <a:srgbClr val="9BE1BF"/>
                </a:solidFill>
                <a:latin typeface="Helvetica Neue"/>
                <a:ea typeface="Helvetica Neue"/>
                <a:cs typeface="Helvetica Neue"/>
              </a:rPr>
              <a:t>CALKILO</a:t>
            </a:r>
          </a:p>
        </p:txBody>
      </p:sp>
      <p:sp>
        <p:nvSpPr>
          <p:cNvPr id="2" name="">
            <a:extLst xmlns:a="http://schemas.openxmlformats.org/drawingml/2006/main">
              <a:ext uri="{FF2B5EF4-FFF2-40B4-BE49-F238E27FC236}">
                <a16:creationId xmlns:a16="http://schemas.microsoft.com/office/drawing/2014/main" id="{9C9637CC-B3D4-40A7-A64A-57A29E8B001B}"/>
              </a:ext>
            </a:extLst>
          </p:cNvPr>
          <p:cNvSpPr>
            <a:spLocks xmlns:a="http://schemas.openxmlformats.org/drawingml/2006/main" noGrp="1"/>
          </p:cNvSpPr>
          <p:nvPr/>
        </p:nvSpPr>
        <p:spPr>
          <a:xfrm xmlns:a="http://schemas.openxmlformats.org/drawingml/2006/main">
            <a:off x="495300" y="1285875"/>
            <a:ext cx="666750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825" b="1">
                <a:solidFill>
                  <a:srgbClr val="FFFFFF"/>
                </a:solidFill>
                <a:latin typeface="Helvetica Neue"/>
                <a:ea typeface="Helvetica Neue"/>
                <a:cs typeface="Helvetica Neue"/>
              </a:defRPr>
            </a:pPr>
            <a:r>
              <a:rPr sz="3825" b="1">
                <a:solidFill>
                  <a:srgbClr val="FFFFFF"/>
                </a:solidFill>
                <a:latin typeface="Helvetica Neue"/>
                <a:ea typeface="Helvetica Neue"/>
                <a:cs typeface="Helvetica Neue"/>
              </a:rPr>
              <a:t>A practical AI nutrition</a:t>
            </a:r>
          </a:p>
          <a:p xmlns:a="http://schemas.openxmlformats.org/drawingml/2006/main">
            <a:pPr algn="l">
              <a:defRPr sz="3825" b="1">
                <a:solidFill>
                  <a:srgbClr val="FFFFFF"/>
                </a:solidFill>
                <a:latin typeface="Helvetica Neue"/>
                <a:ea typeface="Helvetica Neue"/>
                <a:cs typeface="Helvetica Neue"/>
              </a:defRPr>
            </a:pPr>
            <a:r>
              <a:rPr sz="3825" b="1">
                <a:solidFill>
                  <a:srgbClr val="FFFFFF"/>
                </a:solidFill>
                <a:latin typeface="Helvetica Neue"/>
                <a:ea typeface="Helvetica Neue"/>
                <a:cs typeface="Helvetica Neue"/>
              </a:rPr>
              <a:t>companion with early</a:t>
            </a:r>
          </a:p>
          <a:p xmlns:a="http://schemas.openxmlformats.org/drawingml/2006/main">
            <a:pPr algn="l">
              <a:defRPr sz="3825" b="1">
                <a:solidFill>
                  <a:srgbClr val="FFFFFF"/>
                </a:solidFill>
                <a:latin typeface="Helvetica Neue"/>
                <a:ea typeface="Helvetica Neue"/>
                <a:cs typeface="Helvetica Neue"/>
              </a:defRPr>
            </a:pPr>
            <a:r>
              <a:rPr sz="3825" b="1">
                <a:solidFill>
                  <a:srgbClr val="FFFFFF"/>
                </a:solidFill>
                <a:latin typeface="Helvetica Neue"/>
                <a:ea typeface="Helvetica Neue"/>
                <a:cs typeface="Helvetica Neue"/>
              </a:rPr>
              <a:t>localized demand.</a:t>
            </a:r>
          </a:p>
        </p:txBody>
      </p:sp>
      <p:sp>
        <p:nvSpPr>
          <p:cNvPr id="3" name="">
            <a:extLst xmlns:a="http://schemas.openxmlformats.org/drawingml/2006/main">
              <a:ext uri="{FF2B5EF4-FFF2-40B4-BE49-F238E27FC236}">
                <a16:creationId xmlns:a16="http://schemas.microsoft.com/office/drawing/2014/main" id="{8FC50ACB-E1A1-4E76-9C1B-249BB03906A8}"/>
              </a:ext>
            </a:extLst>
          </p:cNvPr>
          <p:cNvSpPr>
            <a:spLocks xmlns:a="http://schemas.openxmlformats.org/drawingml/2006/main" noGrp="1"/>
          </p:cNvSpPr>
          <p:nvPr/>
        </p:nvSpPr>
        <p:spPr>
          <a:xfrm xmlns:a="http://schemas.openxmlformats.org/drawingml/2006/main">
            <a:off x="495300" y="40290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9BE1BF"/>
                </a:solidFill>
                <a:latin typeface="Helvetica Neue"/>
                <a:ea typeface="Helvetica Neue"/>
                <a:cs typeface="Helvetica Neue"/>
              </a:defRPr>
            </a:pPr>
            <a:r>
              <a:rPr sz="1275" b="1">
                <a:solidFill>
                  <a:srgbClr val="9BE1BF"/>
                </a:solidFill>
                <a:latin typeface="Helvetica Neue"/>
                <a:ea typeface="Helvetica Neue"/>
                <a:cs typeface="Helvetica Neue"/>
              </a:rPr>
              <a:t>The investment case</a:t>
            </a:r>
          </a:p>
        </p:txBody>
      </p:sp>
      <p:sp>
        <p:nvSpPr>
          <p:cNvPr id="4" name="">
            <a:extLst xmlns:a="http://schemas.openxmlformats.org/drawingml/2006/main">
              <a:ext uri="{FF2B5EF4-FFF2-40B4-BE49-F238E27FC236}">
                <a16:creationId xmlns:a16="http://schemas.microsoft.com/office/drawing/2014/main" id="{1C00D1F2-2FF1-4044-A782-E7098F984822}"/>
              </a:ext>
            </a:extLst>
          </p:cNvPr>
          <p:cNvSpPr>
            <a:spLocks xmlns:a="http://schemas.openxmlformats.org/drawingml/2006/main" noGrp="1"/>
          </p:cNvSpPr>
          <p:nvPr/>
        </p:nvSpPr>
        <p:spPr>
          <a:xfrm xmlns:a="http://schemas.openxmlformats.org/drawingml/2006/main">
            <a:off x="495300" y="4429125"/>
            <a:ext cx="666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D5E2DC"/>
                </a:solidFill>
                <a:latin typeface="Helvetica Neue"/>
                <a:ea typeface="Helvetica Neue"/>
                <a:cs typeface="Helvetica Neue"/>
              </a:defRPr>
            </a:pPr>
            <a:r>
              <a:rPr sz="1725" b="0">
                <a:solidFill>
                  <a:srgbClr val="D5E2DC"/>
                </a:solidFill>
                <a:latin typeface="Helvetica Neue"/>
                <a:ea typeface="Helvetica Neue"/>
                <a:cs typeface="Helvetica Neue"/>
              </a:rPr>
              <a:t>Back the team to turn photo-first nutrition tracking, regional relevance and early organic validation into a scalable subscription business.</a:t>
            </a:r>
          </a:p>
        </p:txBody>
      </p:sp>
      <p:sp>
        <p:nvSpPr>
          <p:cNvPr id="5" name="">
            <a:extLst xmlns:a="http://schemas.openxmlformats.org/drawingml/2006/main">
              <a:ext uri="{FF2B5EF4-FFF2-40B4-BE49-F238E27FC236}">
                <a16:creationId xmlns:a16="http://schemas.microsoft.com/office/drawing/2014/main" id="{A03366CB-78B4-47B3-9AA4-7478478890C4}"/>
              </a:ext>
            </a:extLst>
          </p:cNvPr>
          <p:cNvSpPr>
            <a:spLocks xmlns:a="http://schemas.openxmlformats.org/drawingml/2006/main" noGrp="1"/>
          </p:cNvSpPr>
          <p:nvPr/>
        </p:nvSpPr>
        <p:spPr>
          <a:xfrm xmlns:a="http://schemas.openxmlformats.org/drawingml/2006/main">
            <a:off x="8191500" y="15240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9BE1BF"/>
                </a:solidFill>
                <a:latin typeface="Helvetica Neue"/>
                <a:ea typeface="Helvetica Neue"/>
                <a:cs typeface="Helvetica Neue"/>
              </a:defRPr>
            </a:pPr>
            <a:r>
              <a:rPr sz="1275" b="1">
                <a:solidFill>
                  <a:srgbClr val="9BE1BF"/>
                </a:solidFill>
                <a:latin typeface="Helvetica Neue"/>
                <a:ea typeface="Helvetica Neue"/>
                <a:cs typeface="Helvetica Neue"/>
              </a:rPr>
              <a:t>Next diligence priorities</a:t>
            </a:r>
          </a:p>
        </p:txBody>
      </p:sp>
      <p:sp>
        <p:nvSpPr>
          <p:cNvPr id="6" name="">
            <a:extLst xmlns:a="http://schemas.openxmlformats.org/drawingml/2006/main">
              <a:ext uri="{FF2B5EF4-FFF2-40B4-BE49-F238E27FC236}">
                <a16:creationId xmlns:a16="http://schemas.microsoft.com/office/drawing/2014/main" id="{1EF76E97-263B-41B1-BD22-F9EEE007DE19}"/>
              </a:ext>
            </a:extLst>
          </p:cNvPr>
          <p:cNvSpPr>
            <a:spLocks xmlns:a="http://schemas.openxmlformats.org/drawingml/2006/main" noGrp="1"/>
          </p:cNvSpPr>
          <p:nvPr/>
        </p:nvSpPr>
        <p:spPr>
          <a:xfrm xmlns:a="http://schemas.openxmlformats.org/drawingml/2006/main">
            <a:off x="8191500" y="2095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Product</a:t>
            </a:r>
          </a:p>
        </p:txBody>
      </p:sp>
      <p:sp>
        <p:nvSpPr>
          <p:cNvPr id="7" name="">
            <a:extLst xmlns:a="http://schemas.openxmlformats.org/drawingml/2006/main">
              <a:ext uri="{FF2B5EF4-FFF2-40B4-BE49-F238E27FC236}">
                <a16:creationId xmlns:a16="http://schemas.microsoft.com/office/drawing/2014/main" id="{99D70E1C-1CE7-4A46-B1F5-015C14450354}"/>
              </a:ext>
            </a:extLst>
          </p:cNvPr>
          <p:cNvSpPr>
            <a:spLocks xmlns:a="http://schemas.openxmlformats.org/drawingml/2006/main" noGrp="1"/>
          </p:cNvSpPr>
          <p:nvPr/>
        </p:nvSpPr>
        <p:spPr>
          <a:xfrm xmlns:a="http://schemas.openxmlformats.org/drawingml/2006/main">
            <a:off x="8191500" y="24288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D5E2DC"/>
                </a:solidFill>
                <a:latin typeface="Helvetica Neue"/>
                <a:ea typeface="Helvetica Neue"/>
                <a:cs typeface="Helvetica Neue"/>
              </a:defRPr>
            </a:pPr>
            <a:r>
              <a:rPr sz="1275" b="0">
                <a:solidFill>
                  <a:srgbClr val="D5E2DC"/>
                </a:solidFill>
                <a:latin typeface="Helvetica Neue"/>
                <a:ea typeface="Helvetica Neue"/>
                <a:cs typeface="Helvetica Neue"/>
              </a:rPr>
              <a:t>Accuracy and repeat-use behavior</a:t>
            </a:r>
          </a:p>
        </p:txBody>
      </p:sp>
      <p:sp>
        <p:nvSpPr>
          <p:cNvPr id="8" name="">
            <a:extLst xmlns:a="http://schemas.openxmlformats.org/drawingml/2006/main">
              <a:ext uri="{FF2B5EF4-FFF2-40B4-BE49-F238E27FC236}">
                <a16:creationId xmlns:a16="http://schemas.microsoft.com/office/drawing/2014/main" id="{B03B391D-DC2D-4F3B-AD4C-3A4499403FB5}"/>
              </a:ext>
            </a:extLst>
          </p:cNvPr>
          <p:cNvSpPr>
            <a:spLocks xmlns:a="http://schemas.openxmlformats.org/drawingml/2006/main" noGrp="1"/>
          </p:cNvSpPr>
          <p:nvPr/>
        </p:nvSpPr>
        <p:spPr>
          <a:xfrm xmlns:a="http://schemas.openxmlformats.org/drawingml/2006/main">
            <a:off x="8191500" y="3095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Growth</a:t>
            </a:r>
          </a:p>
        </p:txBody>
      </p:sp>
      <p:sp>
        <p:nvSpPr>
          <p:cNvPr id="9" name="">
            <a:extLst xmlns:a="http://schemas.openxmlformats.org/drawingml/2006/main">
              <a:ext uri="{FF2B5EF4-FFF2-40B4-BE49-F238E27FC236}">
                <a16:creationId xmlns:a16="http://schemas.microsoft.com/office/drawing/2014/main" id="{C05CE5CC-3E6B-4511-BB7D-30DFF277D23A}"/>
              </a:ext>
            </a:extLst>
          </p:cNvPr>
          <p:cNvSpPr>
            <a:spLocks xmlns:a="http://schemas.openxmlformats.org/drawingml/2006/main" noGrp="1"/>
          </p:cNvSpPr>
          <p:nvPr/>
        </p:nvSpPr>
        <p:spPr>
          <a:xfrm xmlns:a="http://schemas.openxmlformats.org/drawingml/2006/main">
            <a:off x="8191500" y="34290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D5E2DC"/>
                </a:solidFill>
                <a:latin typeface="Helvetica Neue"/>
                <a:ea typeface="Helvetica Neue"/>
                <a:cs typeface="Helvetica Neue"/>
              </a:defRPr>
            </a:pPr>
            <a:r>
              <a:rPr sz="1275" b="0">
                <a:solidFill>
                  <a:srgbClr val="D5E2DC"/>
                </a:solidFill>
                <a:latin typeface="Helvetica Neue"/>
                <a:ea typeface="Helvetica Neue"/>
                <a:cs typeface="Helvetica Neue"/>
              </a:rPr>
              <a:t>Install, activation and CAC</a:t>
            </a:r>
          </a:p>
        </p:txBody>
      </p:sp>
      <p:sp>
        <p:nvSpPr>
          <p:cNvPr id="10" name="">
            <a:extLst xmlns:a="http://schemas.openxmlformats.org/drawingml/2006/main">
              <a:ext uri="{FF2B5EF4-FFF2-40B4-BE49-F238E27FC236}">
                <a16:creationId xmlns:a16="http://schemas.microsoft.com/office/drawing/2014/main" id="{FB0037E5-6823-4B81-84E9-10E6D3504EB4}"/>
              </a:ext>
            </a:extLst>
          </p:cNvPr>
          <p:cNvSpPr>
            <a:spLocks xmlns:a="http://schemas.openxmlformats.org/drawingml/2006/main" noGrp="1"/>
          </p:cNvSpPr>
          <p:nvPr/>
        </p:nvSpPr>
        <p:spPr>
          <a:xfrm xmlns:a="http://schemas.openxmlformats.org/drawingml/2006/main">
            <a:off x="8191500" y="409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Economics</a:t>
            </a:r>
          </a:p>
        </p:txBody>
      </p:sp>
      <p:sp>
        <p:nvSpPr>
          <p:cNvPr id="11" name="">
            <a:extLst xmlns:a="http://schemas.openxmlformats.org/drawingml/2006/main">
              <a:ext uri="{FF2B5EF4-FFF2-40B4-BE49-F238E27FC236}">
                <a16:creationId xmlns:a16="http://schemas.microsoft.com/office/drawing/2014/main" id="{4CF4E1CE-B68A-47E3-98B2-643D189D2CD3}"/>
              </a:ext>
            </a:extLst>
          </p:cNvPr>
          <p:cNvSpPr>
            <a:spLocks xmlns:a="http://schemas.openxmlformats.org/drawingml/2006/main" noGrp="1"/>
          </p:cNvSpPr>
          <p:nvPr/>
        </p:nvSpPr>
        <p:spPr>
          <a:xfrm xmlns:a="http://schemas.openxmlformats.org/drawingml/2006/main">
            <a:off x="8191500" y="44291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D5E2DC"/>
                </a:solidFill>
                <a:latin typeface="Helvetica Neue"/>
                <a:ea typeface="Helvetica Neue"/>
                <a:cs typeface="Helvetica Neue"/>
              </a:defRPr>
            </a:pPr>
            <a:r>
              <a:rPr sz="1275" b="0">
                <a:solidFill>
                  <a:srgbClr val="D5E2DC"/>
                </a:solidFill>
                <a:latin typeface="Helvetica Neue"/>
                <a:ea typeface="Helvetica Neue"/>
                <a:cs typeface="Helvetica Neue"/>
              </a:rPr>
              <a:t>Conversion, retention and LTV</a:t>
            </a:r>
          </a:p>
        </p:txBody>
      </p:sp>
      <p:sp>
        <p:nvSpPr>
          <p:cNvPr id="12" name="">
            <a:extLst xmlns:a="http://schemas.openxmlformats.org/drawingml/2006/main">
              <a:ext uri="{FF2B5EF4-FFF2-40B4-BE49-F238E27FC236}">
                <a16:creationId xmlns:a16="http://schemas.microsoft.com/office/drawing/2014/main" id="{3BA15A58-14FF-45AE-B444-D7ADAC6AB2E1}"/>
              </a:ext>
            </a:extLst>
          </p:cNvPr>
          <p:cNvSpPr>
            <a:spLocks xmlns:a="http://schemas.openxmlformats.org/drawingml/2006/main" noGrp="1"/>
          </p:cNvSpPr>
          <p:nvPr/>
        </p:nvSpPr>
        <p:spPr>
          <a:xfrm xmlns:a="http://schemas.openxmlformats.org/drawingml/2006/main">
            <a:off x="495300" y="61912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9BE1BF"/>
                </a:solidFill>
                <a:latin typeface="Helvetica Neue"/>
                <a:ea typeface="Helvetica Neue"/>
                <a:cs typeface="Helvetica Neue"/>
              </a:defRPr>
            </a:pPr>
            <a:r>
              <a:rPr sz="1200" b="0">
                <a:solidFill>
                  <a:srgbClr val="9BE1BF"/>
                </a:solidFill>
                <a:latin typeface="Helvetica Neue"/>
                <a:ea typeface="Helvetica Neue"/>
                <a:cs typeface="Helvetica Neue"/>
              </a:rPr>
              <a:t>calkilo.com</a:t>
            </a:r>
          </a:p>
        </p:txBody>
      </p:sp>
    </p:spTree>
    <p:extLst>
      <p:ext uri="{BB962C8B-B14F-4D97-AF65-F5344CB8AC3E}">
        <p14:creationId xmlns:p14="http://schemas.microsoft.com/office/powerpoint/2010/main" val="11741482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2026-07-14T07:48:51.5420000Z</dcterms:created>
  <dcterms:modified xsi:type="dcterms:W3CDTF">2026-07-14T07:48:51.5420000Z</dcterms:modified>
</coreProperties>
</file>